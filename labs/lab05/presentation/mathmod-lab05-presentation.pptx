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rushi03/study_2025_2026_mathmod" TargetMode="External"/><Relationship Id="rId2" Type="http://schemas.openxmlformats.org/officeDocument/2006/relationships/hyperlink" Target="mailto:1132215095@pfur.r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Лабораторная работа №5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Модель Лотки-Вольтерры</a:t>
            </a:r>
            <a:br/>
            <a:br/>
            <a:r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Invalid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Информация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Сингх Ааруши</a:t>
            </a:r>
          </a:p>
          <a:p>
            <a:pPr lvl="0"/>
            <a:r>
              <a:t>студентка</a:t>
            </a:r>
          </a:p>
          <a:p>
            <a:pPr lvl="0"/>
            <a:r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1132215095@pfur.ru</a:t>
            </a:r>
          </a:p>
          <a:p>
            <a:pPr lvl="0"/>
            <a:r>
              <a:rPr>
                <a:hlinkClick r:id="rId3"/>
              </a:rPr>
              <a:t>https://github.com/Saarushi03/study_2025_2026_mathmod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Исследовать математическую модель Лотки-Вольерры.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«</a:t>
            </a:r>
            <a:r>
              <a:rPr dirty="0" err="1"/>
              <a:t>хищник-жертва</a:t>
            </a:r>
            <a:r>
              <a:rPr dirty="0"/>
              <a:t>»: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d>
                    <m:dPr>
                      <m:begChr m:val="{"/>
                      <m:endChr m:val="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=−0.44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+0.055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=0.33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−0.022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mr>
                      </m:m>
                    </m:e>
                  </m:d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 err="1"/>
              <a:t>Построить</a:t>
            </a:r>
            <a:r>
              <a:rPr dirty="0"/>
              <a:t> </a:t>
            </a:r>
            <a:r>
              <a:rPr dirty="0" err="1"/>
              <a:t>график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хищников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жертв</a:t>
            </a:r>
            <a:r>
              <a:rPr dirty="0"/>
              <a:t>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графики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хищников</a:t>
            </a:r>
            <a:r>
              <a:rPr dirty="0"/>
              <a:t> и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жертв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следующих</a:t>
            </a:r>
            <a:r>
              <a:rPr dirty="0"/>
              <a:t> </a:t>
            </a:r>
            <a:r>
              <a:rPr dirty="0" err="1"/>
              <a:t>начальных</a:t>
            </a:r>
            <a:r>
              <a:rPr dirty="0"/>
              <a:t> </a:t>
            </a:r>
            <a:r>
              <a:rPr dirty="0" err="1"/>
              <a:t>условиях</a:t>
            </a:r>
            <a:r>
              <a:rPr dirty="0"/>
              <a:t>: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=3,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=9.</m:t>
                </m:r>
              </m:oMath>
            </a14:m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стационарное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3417"/>
            <a:ext cx="8229600" cy="3394472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Используемые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библиотеки</a:t>
            </a:r>
            <a:br>
              <a:rPr dirty="0"/>
            </a:br>
            <a:r>
              <a:rPr b="1" dirty="0">
                <a:solidFill>
                  <a:srgbClr val="008000"/>
                </a:solidFill>
                <a:latin typeface="Courier"/>
              </a:rPr>
              <a:t>using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DifferentialEquations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008000"/>
                </a:solidFill>
                <a:latin typeface="Courier"/>
              </a:rPr>
              <a:t>Plots;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задания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системы</a:t>
            </a:r>
            <a:r>
              <a:rPr i="1" dirty="0">
                <a:solidFill>
                  <a:srgbClr val="60A0B0"/>
                </a:solidFill>
                <a:latin typeface="Courier"/>
              </a:rPr>
              <a:t> ДУ,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описывающей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модель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Лотки-Вольтерры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LV</a:t>
            </a:r>
            <a:r>
              <a:rPr dirty="0">
                <a:latin typeface="Courier"/>
              </a:rPr>
              <a:t>(u, p, t)</a:t>
            </a:r>
            <a:br>
              <a:rPr dirty="0"/>
            </a:br>
            <a:r>
              <a:rPr dirty="0">
                <a:latin typeface="Courier"/>
              </a:rPr>
              <a:t>    x, y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u</a:t>
            </a:r>
            <a:br>
              <a:rPr dirty="0"/>
            </a:br>
            <a:r>
              <a:rPr dirty="0">
                <a:latin typeface="Courier"/>
              </a:rPr>
              <a:t>    a, b, c, d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p</a:t>
            </a:r>
            <a:br>
              <a:rPr dirty="0"/>
            </a:br>
            <a:r>
              <a:rPr dirty="0">
                <a:latin typeface="Courier"/>
              </a:rPr>
              <a:t>    dx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a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x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latin typeface="Courier"/>
              </a:rPr>
              <a:t> b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x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y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dy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latin typeface="Courier"/>
              </a:rPr>
              <a:t>c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y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d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x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y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[dx, </a:t>
            </a:r>
            <a:r>
              <a:rPr dirty="0" err="1">
                <a:latin typeface="Courier"/>
              </a:rPr>
              <a:t>dy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Начальные</a:t>
            </a:r>
            <a:r>
              <a:rPr i="1" dirty="0">
                <a:solidFill>
                  <a:srgbClr val="60A0B0"/>
                </a:solidFill>
                <a:latin typeface="Courier"/>
              </a:rPr>
              <a:t>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условия</a:t>
            </a:r>
            <a:br>
              <a:rPr dirty="0"/>
            </a:br>
            <a:r>
              <a:rPr dirty="0">
                <a:latin typeface="Courier"/>
              </a:rPr>
              <a:t>u0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</a:t>
            </a:r>
            <a:r>
              <a:rPr dirty="0">
                <a:solidFill>
                  <a:srgbClr val="40A070"/>
                </a:solidFill>
                <a:latin typeface="Courier"/>
              </a:rPr>
              <a:t>3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A070"/>
                </a:solidFill>
                <a:latin typeface="Courier"/>
              </a:rPr>
              <a:t>9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dirty="0">
                <a:latin typeface="Courier"/>
              </a:rPr>
              <a:t>p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0.44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0.055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0.33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0.022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dirty="0" err="1">
                <a:latin typeface="Courier"/>
              </a:rPr>
              <a:t>tspan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(</a:t>
            </a:r>
            <a:r>
              <a:rPr dirty="0">
                <a:solidFill>
                  <a:srgbClr val="40A070"/>
                </a:solidFill>
                <a:latin typeface="Courier"/>
              </a:rPr>
              <a:t>0.0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A070"/>
                </a:solidFill>
                <a:latin typeface="Courier"/>
              </a:rPr>
              <a:t>50.0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prob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ODEProblem</a:t>
            </a:r>
            <a:r>
              <a:rPr dirty="0">
                <a:latin typeface="Courier"/>
              </a:rPr>
              <a:t>(LV, u0, </a:t>
            </a:r>
            <a:r>
              <a:rPr dirty="0" err="1">
                <a:latin typeface="Courier"/>
              </a:rPr>
              <a:t>tspan</a:t>
            </a:r>
            <a:r>
              <a:rPr dirty="0">
                <a:latin typeface="Courier"/>
              </a:rPr>
              <a:t>, p)</a:t>
            </a:r>
            <a:br>
              <a:rPr dirty="0"/>
            </a:br>
            <a:r>
              <a:rPr dirty="0">
                <a:latin typeface="Courier"/>
              </a:rPr>
              <a:t>sol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solve</a:t>
            </a:r>
            <a:r>
              <a:rPr dirty="0">
                <a:latin typeface="Courier"/>
              </a:rPr>
              <a:t>(prob, </a:t>
            </a:r>
            <a:r>
              <a:rPr dirty="0">
                <a:solidFill>
                  <a:srgbClr val="06287E"/>
                </a:solidFill>
                <a:latin typeface="Courier"/>
              </a:rPr>
              <a:t>Tsit5</a:t>
            </a:r>
            <a:r>
              <a:rPr dirty="0">
                <a:latin typeface="Courier"/>
              </a:rPr>
              <a:t>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изменения численности хищников и численности жертв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зависимости численности хищников от численности жертв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зависимости численности хищников от численности жертв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d>
                    <m:dPr>
                      <m:begChr m:val="{"/>
                      <m:endChr m:val="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</m:e>
                        </m:mr>
                      </m:m>
                    </m:e>
                  </m:d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 err="1"/>
              <a:t>Получим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i="1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>
                        <a:latin typeface="Cambria Math" panose="02040503050406030204" pitchFamily="18" charset="0"/>
                      </a:rPr>
                      <m:t>0.44</m:t>
                    </m:r>
                  </m:num>
                  <m:den>
                    <m:r>
                      <a:rPr>
                        <a:latin typeface="Cambria Math" panose="02040503050406030204" pitchFamily="18" charset="0"/>
                      </a:rPr>
                      <m:t>0.055</m:t>
                    </m:r>
                  </m:den>
                </m:f>
                <m:r>
                  <a:rPr>
                    <a:latin typeface="Cambria Math" panose="02040503050406030204" pitchFamily="18" charset="0"/>
                  </a:rPr>
                  <m:t>=15.000000000000002</m:t>
                </m:r>
              </m:oMath>
            </a14:m>
            <a:r>
              <a:rPr dirty="0"/>
              <a:t>, а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i="1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>
                        <a:latin typeface="Cambria Math" panose="02040503050406030204" pitchFamily="18" charset="0"/>
                      </a:rPr>
                      <m:t>0.33</m:t>
                    </m:r>
                  </m:num>
                  <m:den>
                    <m:r>
                      <a:rPr>
                        <a:latin typeface="Cambria Math" panose="02040503050406030204" pitchFamily="18" charset="0"/>
                      </a:rPr>
                      <m:t>0.022</m:t>
                    </m:r>
                  </m:den>
                </m:f>
                <m:r>
                  <a:rPr>
                    <a:latin typeface="Cambria Math" panose="02040503050406030204" pitchFamily="18" charset="0"/>
                  </a:rPr>
                  <m:t>=8.0</m:t>
                </m:r>
              </m:oMath>
            </a14:m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 err="1"/>
              <a:t>График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хищников</a:t>
            </a:r>
            <a:r>
              <a:rPr dirty="0"/>
              <a:t> и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жертв</a:t>
            </a:r>
            <a:r>
              <a:rPr dirty="0"/>
              <a:t> в </a:t>
            </a:r>
            <a:r>
              <a:rPr dirty="0" err="1"/>
              <a:t>стационарном</a:t>
            </a:r>
            <a:r>
              <a:rPr dirty="0"/>
              <a:t> </a:t>
            </a:r>
            <a:r>
              <a:rPr dirty="0" err="1"/>
              <a:t>состоянии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зависимости численности хищников от численности жертв в стационарном состоянии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результате выполнения лабораторной работы я построила математическую модель Лотки-Вольтерры на Julia и в OpenModelica.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Список литературы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Модель Лотки — Вольтерры [Электронный ресурс]. URL: https://ru.wikipedia.org/wiki/Модель_Лотки_—_Вольтерры.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Экран (16:9)</PresentationFormat>
  <Paragraphs>38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Courier</vt:lpstr>
      <vt:lpstr>Office Theme</vt:lpstr>
      <vt:lpstr>Лабораторная работа №5</vt:lpstr>
      <vt:lpstr>Информация</vt:lpstr>
      <vt:lpstr>Докладчик</vt:lpstr>
      <vt:lpstr>Цель работы</vt:lpstr>
      <vt:lpstr>Задание</vt:lpstr>
      <vt:lpstr>Выполнение лабораторной работы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Выводы</vt:lpstr>
      <vt:lpstr>Список литературы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Сингх Ааруши</dc:creator>
  <cp:keywords/>
  <cp:lastModifiedBy>Aarushi Singh</cp:lastModifiedBy>
  <cp:revision>1</cp:revision>
  <dcterms:created xsi:type="dcterms:W3CDTF">2026-04-18T15:14:38Z</dcterms:created>
  <dcterms:modified xsi:type="dcterms:W3CDTF">2026-04-18T15:28:16Z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Invalid Date</vt:lpwstr>
  </property>
  <property fmtid="{D5CDD505-2E9C-101B-9397-08002B2CF9AE}" pid="9" name="date-format">
    <vt:lpwstr>2026-04-18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Модель Лотки-Вольтерры</vt:lpwstr>
  </property>
  <property fmtid="{D5CDD505-2E9C-101B-9397-08002B2CF9AE}" pid="16" name="toc-title">
    <vt:lpwstr>Содержание</vt:lpwstr>
  </property>
</Properties>
</file>