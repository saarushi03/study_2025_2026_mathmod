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>
        <p:scale>
          <a:sx n="88" d="100"/>
          <a:sy n="88" d="100"/>
        </p:scale>
        <p:origin x="660" y="-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rushi03/study_2025_2026_mathmod" TargetMode="External"/><Relationship Id="rId2" Type="http://schemas.openxmlformats.org/officeDocument/2006/relationships/hyperlink" Target="mailto:1132215095s@rudn.ru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Лабораторная работа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Модель конкуренции двух фирм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2026-05-30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113215095@rudn.ru</a:t>
            </a:r>
          </a:p>
          <a:p>
            <a:pPr lvl="0"/>
            <a:r>
              <a:rPr>
                <a:hlinkClick r:id="rId3"/>
              </a:rPr>
              <a:t>https://github.com/Saarushi03/study_2025_2026_mathmod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Исследовать математическую модель конкуренции двух фирм.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713" y="238043"/>
            <a:ext cx="8229600" cy="339447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 err="1"/>
              <a:t>Случай</a:t>
            </a:r>
            <a:r>
              <a:rPr b="1" dirty="0"/>
              <a:t> 1</a:t>
            </a:r>
          </a:p>
          <a:p>
            <a:pPr marL="0" lvl="0" indent="0">
              <a:buNone/>
            </a:pPr>
            <a:r>
              <a:rPr dirty="0" err="1"/>
              <a:t>Рассмотрим</a:t>
            </a:r>
            <a:r>
              <a:rPr dirty="0"/>
              <a:t>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фирмы</a:t>
            </a:r>
            <a:r>
              <a:rPr dirty="0"/>
              <a:t>, </a:t>
            </a:r>
            <a:r>
              <a:rPr dirty="0" err="1"/>
              <a:t>производящие</a:t>
            </a:r>
            <a:r>
              <a:rPr dirty="0"/>
              <a:t> </a:t>
            </a:r>
            <a:r>
              <a:rPr dirty="0" err="1"/>
              <a:t>взаимозаменяемые</a:t>
            </a:r>
            <a:r>
              <a:rPr dirty="0"/>
              <a:t> </a:t>
            </a:r>
            <a:r>
              <a:rPr dirty="0" err="1"/>
              <a:t>товары</a:t>
            </a:r>
            <a:r>
              <a:rPr dirty="0"/>
              <a:t> </a:t>
            </a:r>
            <a:r>
              <a:rPr dirty="0" err="1"/>
              <a:t>одинакового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 и </a:t>
            </a:r>
            <a:r>
              <a:rPr dirty="0" err="1"/>
              <a:t>находящиеся</a:t>
            </a:r>
            <a:r>
              <a:rPr dirty="0"/>
              <a:t> в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рыночной</a:t>
            </a:r>
            <a:r>
              <a:rPr dirty="0"/>
              <a:t> </a:t>
            </a:r>
            <a:r>
              <a:rPr dirty="0" err="1"/>
              <a:t>нише</a:t>
            </a:r>
            <a:r>
              <a:rPr dirty="0"/>
              <a:t>. </a:t>
            </a:r>
            <a:r>
              <a:rPr dirty="0" err="1"/>
              <a:t>Считаем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в </a:t>
            </a:r>
            <a:r>
              <a:rPr dirty="0" err="1"/>
              <a:t>рамках</a:t>
            </a:r>
            <a:r>
              <a:rPr dirty="0"/>
              <a:t> </a:t>
            </a:r>
            <a:r>
              <a:rPr dirty="0" err="1"/>
              <a:t>нашей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конкурентная</a:t>
            </a:r>
            <a:r>
              <a:rPr dirty="0"/>
              <a:t> </a:t>
            </a:r>
            <a:r>
              <a:rPr dirty="0" err="1"/>
              <a:t>борьба</a:t>
            </a:r>
            <a:r>
              <a:rPr dirty="0"/>
              <a:t> </a:t>
            </a:r>
            <a:r>
              <a:rPr dirty="0" err="1"/>
              <a:t>ведётся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рыночными</a:t>
            </a:r>
            <a:r>
              <a:rPr dirty="0"/>
              <a:t> </a:t>
            </a:r>
            <a:r>
              <a:rPr dirty="0" err="1"/>
              <a:t>методами</a:t>
            </a:r>
            <a:r>
              <a:rPr dirty="0"/>
              <a:t>.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конкуренты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противника</a:t>
            </a:r>
            <a:r>
              <a:rPr dirty="0"/>
              <a:t> </a:t>
            </a:r>
            <a:r>
              <a:rPr dirty="0" err="1"/>
              <a:t>путем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параметров</a:t>
            </a:r>
            <a:r>
              <a:rPr dirty="0"/>
              <a:t>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производства</a:t>
            </a:r>
            <a:r>
              <a:rPr dirty="0"/>
              <a:t>: </a:t>
            </a:r>
            <a:r>
              <a:rPr dirty="0" err="1"/>
              <a:t>себестоимость</a:t>
            </a:r>
            <a:r>
              <a:rPr dirty="0"/>
              <a:t>,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цикла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вмешиваться</a:t>
            </a:r>
            <a:r>
              <a:rPr dirty="0"/>
              <a:t> в </a:t>
            </a:r>
            <a:r>
              <a:rPr dirty="0" err="1"/>
              <a:t>ситуацию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рынке</a:t>
            </a:r>
            <a:r>
              <a:rPr dirty="0"/>
              <a:t> («</a:t>
            </a:r>
            <a:r>
              <a:rPr dirty="0" err="1"/>
              <a:t>назначать</a:t>
            </a:r>
            <a:r>
              <a:rPr dirty="0"/>
              <a:t>» </a:t>
            </a:r>
            <a:r>
              <a:rPr dirty="0" err="1"/>
              <a:t>цену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потребителей</a:t>
            </a:r>
            <a:r>
              <a:rPr dirty="0"/>
              <a:t> </a:t>
            </a:r>
            <a:r>
              <a:rPr dirty="0" err="1"/>
              <a:t>каким-либо</a:t>
            </a:r>
            <a:r>
              <a:rPr dirty="0"/>
              <a:t> </a:t>
            </a:r>
            <a:r>
              <a:rPr dirty="0" err="1"/>
              <a:t>иным</a:t>
            </a:r>
            <a:r>
              <a:rPr dirty="0"/>
              <a:t> </a:t>
            </a:r>
            <a:r>
              <a:rPr dirty="0" err="1"/>
              <a:t>способом</a:t>
            </a:r>
            <a:r>
              <a:rPr dirty="0"/>
              <a:t>.) </a:t>
            </a:r>
            <a:r>
              <a:rPr dirty="0" err="1"/>
              <a:t>Будем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постоянные</a:t>
            </a:r>
            <a:r>
              <a:rPr dirty="0"/>
              <a:t> </a:t>
            </a:r>
            <a:r>
              <a:rPr dirty="0" err="1"/>
              <a:t>издержки</a:t>
            </a:r>
            <a:r>
              <a:rPr dirty="0"/>
              <a:t> </a:t>
            </a:r>
            <a:r>
              <a:rPr dirty="0" err="1"/>
              <a:t>пренебрежимо</a:t>
            </a:r>
            <a:r>
              <a:rPr dirty="0"/>
              <a:t> </a:t>
            </a:r>
            <a:r>
              <a:rPr dirty="0" err="1"/>
              <a:t>малы</a:t>
            </a:r>
            <a:r>
              <a:rPr dirty="0"/>
              <a:t>, и в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Случай 2</a:t>
            </a:r>
            <a:r>
              <a:t> Рассмотрим модель, когда, помимо экономического фактора влияния (изменение себестоимости, производственного цикла, использование кредита и т.п.), используются еще и социально-психологические факторы – формирование общественного предпочтения одного товара другому, не зависимо от их качества и цены. В этом случае взаимодействие двух фирм будет зависеть друг от друга, соответственно коэффициент перед M M1 2 будет отличаться.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Подключаем нужные библиотеки для решения ДУ и для отрисовки графиков. Задаем само дифференциальное уравнение, а также начальные условия и параметры.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Случай 1</a:t>
            </a:r>
          </a:p>
          <a:p>
            <a:pPr marL="0" lvl="0" indent="0">
              <a:buNone/>
            </a:pPr>
            <a:r>
              <a:t>Зададим функцию, описывающую систему уравнений для этого случая, Далее решаем систему ДУ, сначала определив проблему с помощью метода ODEProblem(), а затем решим с помощью solve() солвером Tsit5() с шагом 0.01. Нарисуем график с помощью plot().</a:t>
            </a:r>
          </a:p>
        </p:txBody>
      </p:sp>
      <p:pic>
        <p:nvPicPr>
          <p:cNvPr id="2" name="Picture 1" descr="image/1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84600" y="203200"/>
            <a:ext cx="4673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Случай 2</a:t>
            </a:r>
          </a:p>
        </p:txBody>
      </p:sp>
      <p:pic>
        <p:nvPicPr>
          <p:cNvPr id="2" name="Picture 1" descr="image/2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12800"/>
            <a:ext cx="5105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результате выполнения лабораторной работы была исследована модель конкуренции двух фирм.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Экран (16:9)</PresentationFormat>
  <Paragraphs>29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Лабораторная работа 8</vt:lpstr>
      <vt:lpstr>Информация</vt:lpstr>
      <vt:lpstr>Докладчик</vt:lpstr>
      <vt:lpstr>Цель работы</vt:lpstr>
      <vt:lpstr>Презентация PowerPoint</vt:lpstr>
      <vt:lpstr>Задание</vt:lpstr>
      <vt:lpstr>Презентация PowerPoint</vt:lpstr>
      <vt:lpstr>Задание</vt:lpstr>
      <vt:lpstr>Презентация PowerPoint</vt:lpstr>
      <vt:lpstr>Выполнение лабораторной работы</vt:lpstr>
      <vt:lpstr>Реализация на Julia</vt:lpstr>
      <vt:lpstr>Презентация PowerPoint</vt:lpstr>
      <vt:lpstr>Реализация на Julia</vt:lpstr>
      <vt:lpstr>Презентация PowerPoint</vt:lpstr>
      <vt:lpstr>Реализация на Julia</vt:lpstr>
      <vt:lpstr>Презентация PowerPoint</vt:lpstr>
      <vt:lpstr>Реализация на Julia</vt:lpstr>
      <vt:lpstr>Презентация PowerPoint</vt:lpstr>
      <vt:lpstr>Реализация на Julia</vt:lpstr>
      <vt:lpstr>Презентация PowerPoint</vt:lpstr>
      <vt:lpstr>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8</dc:title>
  <dc:creator>Сингх Ааруши</dc:creator>
  <cp:keywords/>
  <cp:lastModifiedBy>Aarushi Singh</cp:lastModifiedBy>
  <cp:revision>1</cp:revision>
  <dcterms:created xsi:type="dcterms:W3CDTF">2026-05-30T12:12:20Z</dcterms:created>
  <dcterms:modified xsi:type="dcterms:W3CDTF">2026-05-30T12:29:00Z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2026-05-30</vt:lpwstr>
  </property>
  <property fmtid="{D5CDD505-2E9C-101B-9397-08002B2CF9AE}" pid="9" name="date-format">
    <vt:lpwstr>2026-05-30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Модель конкуренции двух фирм</vt:lpwstr>
  </property>
  <property fmtid="{D5CDD505-2E9C-101B-9397-08002B2CF9AE}" pid="16" name="toc-title">
    <vt:lpwstr>Содержание</vt:lpwstr>
  </property>
</Properties>
</file>