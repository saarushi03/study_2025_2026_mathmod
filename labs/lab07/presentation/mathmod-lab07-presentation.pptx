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80" d="100"/>
          <a:sy n="80" d="100"/>
        </p:scale>
        <p:origin x="880" y="4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arushi03/study_2025_2026_mathmod" TargetMode="External"/><Relationship Id="rId2" Type="http://schemas.openxmlformats.org/officeDocument/2006/relationships/hyperlink" Target="mailto:1132215095@pfur.ru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marL="0" lvl="0" indent="0">
              <a:buNone/>
            </a:pPr>
            <a:r>
              <a:t>Лабораторная работа №7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marL="0" lvl="0" indent="0">
              <a:buNone/>
            </a:pPr>
            <a:r>
              <a:t>Эффективность рекламы</a:t>
            </a:r>
            <a:br/>
            <a:br/>
            <a:r>
              <a:t>Сингх Ааруши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Invalid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Информация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Докладчик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Сингх Ааруши</a:t>
            </a:r>
          </a:p>
          <a:p>
            <a:pPr lvl="0"/>
            <a:r>
              <a:t>студентка</a:t>
            </a:r>
          </a:p>
          <a:p>
            <a:pPr lvl="0"/>
            <a:r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1132215095@pfur.ru</a:t>
            </a:r>
          </a:p>
          <a:p>
            <a:pPr lvl="0"/>
            <a:r>
              <a:rPr>
                <a:hlinkClick r:id="rId3"/>
              </a:rPr>
              <a:t>https://github.com/Saarushi03/study_2025_2026_mathmod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Цель работы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Исследовать модель эффективности рекламы.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Задание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61612"/>
                <a:ext cx="8229600" cy="3394472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 err="1"/>
                  <a:t>Построить</a:t>
                </a:r>
                <a:r>
                  <a:rPr dirty="0"/>
                  <a:t> </a:t>
                </a:r>
                <a:r>
                  <a:rPr dirty="0" err="1"/>
                  <a:t>график</a:t>
                </a:r>
                <a:r>
                  <a:rPr dirty="0"/>
                  <a:t> </a:t>
                </a:r>
                <a:r>
                  <a:rPr dirty="0" err="1"/>
                  <a:t>распространения</a:t>
                </a:r>
                <a:r>
                  <a:rPr dirty="0"/>
                  <a:t> </a:t>
                </a:r>
                <a:r>
                  <a:rPr dirty="0" err="1"/>
                  <a:t>рекламы</a:t>
                </a:r>
                <a:r>
                  <a:rPr dirty="0"/>
                  <a:t>, </a:t>
                </a:r>
                <a:r>
                  <a:rPr dirty="0" err="1"/>
                  <a:t>математическая</a:t>
                </a:r>
                <a:r>
                  <a:rPr dirty="0"/>
                  <a:t> </a:t>
                </a:r>
                <a:r>
                  <a:rPr dirty="0" err="1"/>
                  <a:t>модель</a:t>
                </a:r>
                <a:r>
                  <a:rPr dirty="0"/>
                  <a:t> </a:t>
                </a:r>
                <a:r>
                  <a:rPr dirty="0" err="1"/>
                  <a:t>которой</a:t>
                </a:r>
                <a:r>
                  <a:rPr dirty="0"/>
                  <a:t> </a:t>
                </a:r>
                <a:r>
                  <a:rPr dirty="0" err="1"/>
                  <a:t>описывается</a:t>
                </a:r>
                <a:r>
                  <a:rPr dirty="0"/>
                  <a:t> </a:t>
                </a:r>
                <a:r>
                  <a:rPr dirty="0" err="1"/>
                  <a:t>следующим</a:t>
                </a:r>
                <a:r>
                  <a:rPr dirty="0"/>
                  <a:t> </a:t>
                </a:r>
                <a:r>
                  <a:rPr dirty="0" err="1"/>
                  <a:t>уравнением</a:t>
                </a:r>
                <a:r>
                  <a:rPr dirty="0"/>
                  <a:t>:</a:t>
                </a:r>
              </a:p>
              <a:p>
                <a:pPr marL="342900" lvl="0" indent="-342900">
                  <a:buAutoNum type="arabicPeriod"/>
                </a:pP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𝑑𝑛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0.84+0.00002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dirty="0"/>
              </a:p>
              <a:p>
                <a:pPr marL="342900" lvl="0" indent="-342900">
                  <a:buAutoNum type="arabicPeriod"/>
                </a:pP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𝑑𝑛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0.000084+0.6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dirty="0"/>
              </a:p>
              <a:p>
                <a:pPr marL="342900" lvl="0" indent="-342900">
                  <a:buAutoNum type="arabicPeriod"/>
                </a:pP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𝑑𝑛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0.3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+0.3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𝑠𝑖𝑛</m:t>
                        </m:r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dirty="0"/>
              </a:p>
              <a:p>
                <a:pPr marL="0" lvl="0" indent="0">
                  <a:buNone/>
                </a:pPr>
                <a:r>
                  <a:rPr dirty="0" err="1"/>
                  <a:t>При</a:t>
                </a:r>
                <a:r>
                  <a:rPr dirty="0"/>
                  <a:t> </a:t>
                </a:r>
                <a:r>
                  <a:rPr dirty="0" err="1"/>
                  <a:t>этом</a:t>
                </a:r>
                <a:r>
                  <a:rPr dirty="0"/>
                  <a:t> </a:t>
                </a:r>
                <a:r>
                  <a:rPr dirty="0" err="1"/>
                  <a:t>объем</a:t>
                </a:r>
                <a:r>
                  <a:rPr dirty="0"/>
                  <a:t> </a:t>
                </a:r>
                <a:r>
                  <a:rPr dirty="0" err="1"/>
                  <a:t>аудитории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  <m:r>
                      <a:rPr>
                        <a:latin typeface="Cambria Math" panose="02040503050406030204" pitchFamily="18" charset="0"/>
                      </a:rPr>
                      <m:t>=910</m:t>
                    </m:r>
                  </m:oMath>
                </a14:m>
                <a:r>
                  <a:rPr dirty="0"/>
                  <a:t>, в </a:t>
                </a:r>
                <a:r>
                  <a:rPr dirty="0" err="1"/>
                  <a:t>начальный</a:t>
                </a:r>
                <a:r>
                  <a:rPr dirty="0"/>
                  <a:t> </a:t>
                </a:r>
                <a:r>
                  <a:rPr dirty="0" err="1"/>
                  <a:t>момент</a:t>
                </a:r>
                <a:r>
                  <a:rPr dirty="0"/>
                  <a:t> о </a:t>
                </a:r>
                <a:r>
                  <a:rPr dirty="0" err="1"/>
                  <a:t>товаре</a:t>
                </a:r>
                <a:r>
                  <a:rPr dirty="0"/>
                  <a:t> </a:t>
                </a:r>
                <a:r>
                  <a:rPr dirty="0" err="1"/>
                  <a:t>знает</a:t>
                </a:r>
                <a:r>
                  <a:rPr dirty="0"/>
                  <a:t> 16 </a:t>
                </a:r>
                <a:r>
                  <a:rPr dirty="0" err="1"/>
                  <a:t>человек</a:t>
                </a:r>
                <a:r>
                  <a:rPr dirty="0"/>
                  <a:t>. </a:t>
                </a:r>
                <a:r>
                  <a:rPr dirty="0" err="1"/>
                  <a:t>Для</a:t>
                </a:r>
                <a:r>
                  <a:rPr dirty="0"/>
                  <a:t> </a:t>
                </a:r>
                <a:r>
                  <a:rPr dirty="0" err="1"/>
                  <a:t>случая</a:t>
                </a:r>
                <a:r>
                  <a:rPr dirty="0"/>
                  <a:t> 2 </a:t>
                </a:r>
                <a:r>
                  <a:rPr dirty="0" err="1"/>
                  <a:t>определить</a:t>
                </a:r>
                <a:r>
                  <a:rPr dirty="0"/>
                  <a:t> в </a:t>
                </a:r>
                <a:r>
                  <a:rPr dirty="0" err="1"/>
                  <a:t>какой</a:t>
                </a:r>
                <a:r>
                  <a:rPr dirty="0"/>
                  <a:t> </a:t>
                </a:r>
                <a:r>
                  <a:rPr dirty="0" err="1"/>
                  <a:t>момент</a:t>
                </a:r>
                <a:r>
                  <a:rPr dirty="0"/>
                  <a:t> </a:t>
                </a:r>
                <a:r>
                  <a:rPr dirty="0" err="1"/>
                  <a:t>времени</a:t>
                </a:r>
                <a:r>
                  <a:rPr dirty="0"/>
                  <a:t> </a:t>
                </a:r>
                <a:r>
                  <a:rPr dirty="0" err="1"/>
                  <a:t>скорость</a:t>
                </a:r>
                <a:r>
                  <a:rPr dirty="0"/>
                  <a:t> </a:t>
                </a:r>
                <a:r>
                  <a:rPr dirty="0" err="1"/>
                  <a:t>распространения</a:t>
                </a:r>
                <a:r>
                  <a:rPr dirty="0"/>
                  <a:t> </a:t>
                </a:r>
                <a:r>
                  <a:rPr dirty="0" err="1"/>
                  <a:t>рекламы</a:t>
                </a:r>
                <a:r>
                  <a:rPr dirty="0"/>
                  <a:t> </a:t>
                </a:r>
                <a:r>
                  <a:rPr dirty="0" err="1"/>
                  <a:t>будет</a:t>
                </a:r>
                <a:r>
                  <a:rPr dirty="0"/>
                  <a:t> </a:t>
                </a:r>
                <a:r>
                  <a:rPr dirty="0" err="1"/>
                  <a:t>иметь</a:t>
                </a:r>
                <a:r>
                  <a:rPr dirty="0"/>
                  <a:t> </a:t>
                </a:r>
                <a:r>
                  <a:rPr dirty="0" err="1"/>
                  <a:t>максимальное</a:t>
                </a:r>
                <a:r>
                  <a:rPr dirty="0"/>
                  <a:t> </a:t>
                </a:r>
                <a:r>
                  <a:rPr dirty="0" err="1"/>
                  <a:t>значение</a:t>
                </a:r>
                <a:r>
                  <a:rPr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61612"/>
                <a:ext cx="8229600" cy="3394472"/>
              </a:xfrm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Выполнение лабораторной работы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Реализация на Julia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using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DifferentialEquations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Plots;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f</a:t>
            </a:r>
            <a:r>
              <a:rPr>
                <a:latin typeface="Courier"/>
              </a:rPr>
              <a:t>(n, p, t)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(p[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p[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n)</a:t>
            </a:r>
            <a:r>
              <a:rPr>
                <a:solidFill>
                  <a:srgbClr val="06287E"/>
                </a:solidFill>
                <a:latin typeface="Courier"/>
              </a:rPr>
              <a:t>*</a:t>
            </a:r>
            <a:r>
              <a:rPr>
                <a:latin typeface="Courier"/>
              </a:rPr>
              <a:t>(p[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n)</a:t>
            </a:r>
            <a:br/>
            <a:r>
              <a:rPr>
                <a:latin typeface="Courier"/>
              </a:rPr>
              <a:t>p1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0.84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0.00002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910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p2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0.00008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0.88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910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n_0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br/>
            <a:r>
              <a:rPr>
                <a:latin typeface="Courier"/>
              </a:rPr>
              <a:t>tspan1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0.0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16.0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tspan2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0.0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0.02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prob1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ODEProblem</a:t>
            </a:r>
            <a:r>
              <a:rPr>
                <a:latin typeface="Courier"/>
              </a:rPr>
              <a:t>(f, n_0, tspan1, p1)</a:t>
            </a:r>
            <a:br/>
            <a:r>
              <a:rPr>
                <a:latin typeface="Courier"/>
              </a:rPr>
              <a:t>prob2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ODEProblem</a:t>
            </a:r>
            <a:r>
              <a:rPr>
                <a:latin typeface="Courier"/>
              </a:rPr>
              <a:t>(f, n_0, tspan2, p2)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Реализация на Julia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sol1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solve</a:t>
            </a:r>
            <a:r>
              <a:rPr>
                <a:latin typeface="Courier"/>
              </a:rPr>
              <a:t>(prob1, </a:t>
            </a:r>
            <a:r>
              <a:rPr>
                <a:solidFill>
                  <a:srgbClr val="06287E"/>
                </a:solidFill>
                <a:latin typeface="Courier"/>
              </a:rPr>
              <a:t>Tsit5</a:t>
            </a:r>
            <a:r>
              <a:rPr>
                <a:latin typeface="Courier"/>
              </a:rPr>
              <a:t>(), saveat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0.01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plot</a:t>
            </a:r>
            <a:r>
              <a:rPr>
                <a:latin typeface="Courier"/>
              </a:rPr>
              <a:t>(sol1, markersize </a:t>
            </a:r>
            <a:r>
              <a:rPr>
                <a:solidFill>
                  <a:srgbClr val="666666"/>
                </a:solidFill>
                <a:latin typeface="Courier"/>
              </a:rPr>
              <a:t>=:</a:t>
            </a:r>
            <a:r>
              <a:rPr>
                <a:solidFill>
                  <a:srgbClr val="40A070"/>
                </a:solidFill>
                <a:latin typeface="Courier"/>
              </a:rPr>
              <a:t>15</a:t>
            </a:r>
            <a:r>
              <a:rPr>
                <a:latin typeface="Courier"/>
              </a:rPr>
              <a:t>, c </a:t>
            </a:r>
            <a:r>
              <a:rPr>
                <a:solidFill>
                  <a:srgbClr val="666666"/>
                </a:solidFill>
                <a:latin typeface="Courier"/>
              </a:rPr>
              <a:t>=:</a:t>
            </a:r>
            <a:r>
              <a:rPr>
                <a:latin typeface="Courier"/>
              </a:rPr>
              <a:t>green, yaxis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"N(t)"</a:t>
            </a:r>
            <a:r>
              <a:rPr>
                <a:latin typeface="Courier"/>
              </a:rPr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Реализация на Julia</a:t>
            </a:r>
          </a:p>
        </p:txBody>
      </p:sp>
      <p:pic>
        <p:nvPicPr>
          <p:cNvPr id="3" name="Picture 1" descr="image/1.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График распространения рекламы для случая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Реализация на Julia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sol2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solve</a:t>
            </a:r>
            <a:r>
              <a:rPr>
                <a:latin typeface="Courier"/>
              </a:rPr>
              <a:t>(prob2, </a:t>
            </a:r>
            <a:r>
              <a:rPr>
                <a:solidFill>
                  <a:srgbClr val="06287E"/>
                </a:solidFill>
                <a:latin typeface="Courier"/>
              </a:rPr>
              <a:t>Tsit5</a:t>
            </a:r>
            <a:r>
              <a:rPr>
                <a:latin typeface="Courier"/>
              </a:rPr>
              <a:t>(), saveat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0.0001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plot</a:t>
            </a:r>
            <a:r>
              <a:rPr>
                <a:latin typeface="Courier"/>
              </a:rPr>
              <a:t>(sol2, markersize </a:t>
            </a:r>
            <a:r>
              <a:rPr>
                <a:solidFill>
                  <a:srgbClr val="666666"/>
                </a:solidFill>
                <a:latin typeface="Courier"/>
              </a:rPr>
              <a:t>=:</a:t>
            </a:r>
            <a:r>
              <a:rPr>
                <a:solidFill>
                  <a:srgbClr val="40A070"/>
                </a:solidFill>
                <a:latin typeface="Courier"/>
              </a:rPr>
              <a:t>15</a:t>
            </a:r>
            <a:r>
              <a:rPr>
                <a:latin typeface="Courier"/>
              </a:rPr>
              <a:t>, c</a:t>
            </a:r>
            <a:r>
              <a:rPr>
                <a:solidFill>
                  <a:srgbClr val="666666"/>
                </a:solidFill>
                <a:latin typeface="Courier"/>
              </a:rPr>
              <a:t>=:</a:t>
            </a:r>
            <a:r>
              <a:rPr>
                <a:latin typeface="Courier"/>
              </a:rPr>
              <a:t>green, yaxis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"N(t)"</a:t>
            </a:r>
            <a:r>
              <a:rPr>
                <a:latin typeface="Courier"/>
              </a:rPr>
              <a:t>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Реализация на Julia</a:t>
            </a:r>
          </a:p>
        </p:txBody>
      </p:sp>
      <p:pic>
        <p:nvPicPr>
          <p:cNvPr id="3" name="Picture 1" descr="image/1.3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График распространения рекламы для случая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Реализация на Julia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74514"/>
            <a:ext cx="8229600" cy="3394472"/>
          </a:xfrm>
        </p:spPr>
        <p:txBody>
          <a:bodyPr>
            <a:normAutofit fontScale="92500" lnSpcReduction="20000"/>
          </a:bodyPr>
          <a:lstStyle/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function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06287E"/>
                </a:solidFill>
                <a:latin typeface="Courier"/>
              </a:rPr>
              <a:t>f3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u,p,t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n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u</a:t>
            </a:r>
            <a:br>
              <a:rPr dirty="0"/>
            </a:br>
            <a:r>
              <a:rPr dirty="0">
                <a:latin typeface="Courier"/>
              </a:rPr>
              <a:t>    dn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(</a:t>
            </a:r>
            <a:r>
              <a:rPr dirty="0">
                <a:solidFill>
                  <a:srgbClr val="40A070"/>
                </a:solidFill>
                <a:latin typeface="Courier"/>
              </a:rPr>
              <a:t>0.3</a:t>
            </a:r>
            <a:r>
              <a:rPr dirty="0">
                <a:solidFill>
                  <a:srgbClr val="666666"/>
                </a:solidFill>
                <a:latin typeface="Courier"/>
              </a:rPr>
              <a:t>*</a:t>
            </a:r>
            <a:r>
              <a:rPr dirty="0">
                <a:latin typeface="Courier"/>
              </a:rPr>
              <a:t>t </a:t>
            </a:r>
            <a:r>
              <a:rPr dirty="0">
                <a:solidFill>
                  <a:srgbClr val="666666"/>
                </a:solidFill>
                <a:latin typeface="Courier"/>
              </a:rPr>
              <a:t>+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40A070"/>
                </a:solidFill>
                <a:latin typeface="Courier"/>
              </a:rPr>
              <a:t>0.3</a:t>
            </a:r>
            <a:r>
              <a:rPr dirty="0">
                <a:solidFill>
                  <a:srgbClr val="06287E"/>
                </a:solidFill>
                <a:latin typeface="Courier"/>
              </a:rPr>
              <a:t>*sin</a:t>
            </a:r>
            <a:r>
              <a:rPr dirty="0">
                <a:latin typeface="Courier"/>
              </a:rPr>
              <a:t>(t)</a:t>
            </a:r>
            <a:r>
              <a:rPr dirty="0">
                <a:solidFill>
                  <a:srgbClr val="666666"/>
                </a:solidFill>
                <a:latin typeface="Courier"/>
              </a:rPr>
              <a:t>*</a:t>
            </a:r>
            <a:r>
              <a:rPr dirty="0">
                <a:latin typeface="Courier"/>
              </a:rPr>
              <a:t>n)</a:t>
            </a:r>
            <a:r>
              <a:rPr dirty="0">
                <a:solidFill>
                  <a:srgbClr val="06287E"/>
                </a:solidFill>
                <a:latin typeface="Courier"/>
              </a:rPr>
              <a:t>*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A070"/>
                </a:solidFill>
                <a:latin typeface="Courier"/>
              </a:rPr>
              <a:t>910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-</a:t>
            </a:r>
            <a:r>
              <a:rPr dirty="0">
                <a:latin typeface="Courier"/>
              </a:rPr>
              <a:t> n)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end</a:t>
            </a:r>
            <a:br>
              <a:rPr dirty="0"/>
            </a:br>
            <a:r>
              <a:rPr dirty="0">
                <a:latin typeface="Courier"/>
              </a:rPr>
              <a:t>u_0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40A070"/>
                </a:solidFill>
                <a:latin typeface="Courier"/>
              </a:rPr>
              <a:t>16</a:t>
            </a:r>
            <a:br>
              <a:rPr dirty="0"/>
            </a:br>
            <a:r>
              <a:rPr dirty="0" err="1">
                <a:latin typeface="Courier"/>
              </a:rPr>
              <a:t>tspan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(</a:t>
            </a:r>
            <a:r>
              <a:rPr dirty="0">
                <a:solidFill>
                  <a:srgbClr val="40A070"/>
                </a:solidFill>
                <a:latin typeface="Courier"/>
              </a:rPr>
              <a:t>0.0</a:t>
            </a:r>
            <a:r>
              <a:rPr dirty="0">
                <a:latin typeface="Courier"/>
              </a:rPr>
              <a:t>, </a:t>
            </a:r>
            <a:r>
              <a:rPr dirty="0">
                <a:solidFill>
                  <a:srgbClr val="40A070"/>
                </a:solidFill>
                <a:latin typeface="Courier"/>
              </a:rPr>
              <a:t>2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prob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solidFill>
                  <a:srgbClr val="06287E"/>
                </a:solidFill>
                <a:latin typeface="Courier"/>
              </a:rPr>
              <a:t>ODEProblem</a:t>
            </a:r>
            <a:r>
              <a:rPr dirty="0">
                <a:latin typeface="Courier"/>
              </a:rPr>
              <a:t>(f3, u_0, </a:t>
            </a:r>
            <a:r>
              <a:rPr dirty="0" err="1">
                <a:latin typeface="Courier"/>
              </a:rPr>
              <a:t>tspan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sol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DifferentialEquations.</a:t>
            </a:r>
            <a:r>
              <a:rPr dirty="0" err="1">
                <a:solidFill>
                  <a:srgbClr val="06287E"/>
                </a:solidFill>
                <a:latin typeface="Courier"/>
              </a:rPr>
              <a:t>solve</a:t>
            </a:r>
            <a:r>
              <a:rPr dirty="0">
                <a:latin typeface="Courier"/>
              </a:rPr>
              <a:t>(prob, </a:t>
            </a:r>
            <a:r>
              <a:rPr dirty="0">
                <a:solidFill>
                  <a:srgbClr val="06287E"/>
                </a:solidFill>
                <a:latin typeface="Courier"/>
              </a:rPr>
              <a:t>Tsit5</a:t>
            </a:r>
            <a:r>
              <a:rPr dirty="0">
                <a:latin typeface="Courier"/>
              </a:rPr>
              <a:t>(), </a:t>
            </a:r>
            <a:r>
              <a:rPr dirty="0" err="1">
                <a:latin typeface="Courier"/>
              </a:rPr>
              <a:t>saveat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40A070"/>
                </a:solidFill>
                <a:latin typeface="Courier"/>
              </a:rPr>
              <a:t>0.001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solidFill>
                  <a:srgbClr val="06287E"/>
                </a:solidFill>
                <a:latin typeface="Courier"/>
              </a:rPr>
              <a:t>plot</a:t>
            </a:r>
            <a:r>
              <a:rPr dirty="0">
                <a:latin typeface="Courier"/>
              </a:rPr>
              <a:t>(sol, </a:t>
            </a:r>
            <a:r>
              <a:rPr dirty="0" err="1">
                <a:latin typeface="Courier"/>
              </a:rPr>
              <a:t>markersize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=:</a:t>
            </a:r>
            <a:r>
              <a:rPr dirty="0">
                <a:solidFill>
                  <a:srgbClr val="40A070"/>
                </a:solidFill>
                <a:latin typeface="Courier"/>
              </a:rPr>
              <a:t>15</a:t>
            </a:r>
            <a:r>
              <a:rPr dirty="0">
                <a:latin typeface="Courier"/>
              </a:rPr>
              <a:t>, c</a:t>
            </a:r>
            <a:r>
              <a:rPr dirty="0">
                <a:solidFill>
                  <a:srgbClr val="666666"/>
                </a:solidFill>
                <a:latin typeface="Courier"/>
              </a:rPr>
              <a:t>=:</a:t>
            </a:r>
            <a:r>
              <a:rPr dirty="0">
                <a:latin typeface="Courier"/>
              </a:rPr>
              <a:t>green, </a:t>
            </a:r>
            <a:r>
              <a:rPr dirty="0" err="1">
                <a:latin typeface="Courier"/>
              </a:rPr>
              <a:t>yaxis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"N(t)"</a:t>
            </a:r>
            <a:r>
              <a:rPr dirty="0">
                <a:latin typeface="Courier"/>
              </a:rPr>
              <a:t>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Реализация на Julia</a:t>
            </a:r>
          </a:p>
        </p:txBody>
      </p:sp>
      <p:pic>
        <p:nvPicPr>
          <p:cNvPr id="3" name="Picture 1" descr="image/1.4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График распространения рекламы для случая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Выводы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В результате выполнения данной лабораторной работы была исследована модель эффективности рекламы.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Список литературы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t>Исследование модели рекламной кампании [Электронный ресурс]. URL:https://studfile.net/preview/310591/.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448</Words>
  <Application>Microsoft Office PowerPoint</Application>
  <PresentationFormat>Экран (16:9)</PresentationFormat>
  <Paragraphs>37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 Math</vt:lpstr>
      <vt:lpstr>Courier</vt:lpstr>
      <vt:lpstr>Office Theme</vt:lpstr>
      <vt:lpstr>Лабораторная работа №7</vt:lpstr>
      <vt:lpstr>Информация</vt:lpstr>
      <vt:lpstr>Докладчик</vt:lpstr>
      <vt:lpstr>Цель работы</vt:lpstr>
      <vt:lpstr>Задание</vt:lpstr>
      <vt:lpstr>Выполнение лабораторной работы</vt:lpstr>
      <vt:lpstr>Реализация на Julia</vt:lpstr>
      <vt:lpstr>Реализация на Julia</vt:lpstr>
      <vt:lpstr>Реализация на Julia</vt:lpstr>
      <vt:lpstr>Реализация на Julia</vt:lpstr>
      <vt:lpstr>Реализация на Julia</vt:lpstr>
      <vt:lpstr>Реализация на Julia</vt:lpstr>
      <vt:lpstr>Реализация на Julia</vt:lpstr>
      <vt:lpstr>Выводы</vt:lpstr>
      <vt:lpstr>Презентация PowerPoint</vt:lpstr>
      <vt:lpstr>Список литературы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№7</dc:title>
  <dc:creator>Сингх Ааруши</dc:creator>
  <cp:keywords/>
  <cp:lastModifiedBy>Aarushi Singh</cp:lastModifiedBy>
  <cp:revision>1</cp:revision>
  <dcterms:created xsi:type="dcterms:W3CDTF">2026-06-12T12:30:45Z</dcterms:created>
  <dcterms:modified xsi:type="dcterms:W3CDTF">2026-06-12T12:31:54Z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Invalid Date</vt:lpwstr>
  </property>
  <property fmtid="{D5CDD505-2E9C-101B-9397-08002B2CF9AE}" pid="9" name="date-format">
    <vt:lpwstr>2026-05-16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Эффективность рекламы</vt:lpwstr>
  </property>
  <property fmtid="{D5CDD505-2E9C-101B-9397-08002B2CF9AE}" pid="16" name="toc-title">
    <vt:lpwstr>Содержание</vt:lpwstr>
  </property>
</Properties>
</file>