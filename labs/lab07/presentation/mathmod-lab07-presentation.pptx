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1132215095@rudn.ru" TargetMode="External" /><Relationship Id="rId3" Type="http://schemas.openxmlformats.org/officeDocument/2006/relationships/hyperlink" Target="https://github.com/Saarushi03/study_2025_2026_mathmod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Задача об эпидемии</a:t>
            </a:r>
            <a:br/>
            <a:br/>
            <a:r>
              <a:rPr/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Сингх Ааруши</a:t>
            </a:r>
          </a:p>
          <a:p>
            <a:pPr lvl="0"/>
            <a:r>
              <a:rPr/>
              <a:t>студентка</a:t>
            </a:r>
          </a:p>
          <a:p>
            <a:pPr lvl="0"/>
            <a:r>
              <a:rPr/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1132215095@rudn.ru</a:t>
            </a:r>
          </a:p>
          <a:p>
            <a:pPr lvl="0"/>
            <a:r>
              <a:rPr>
                <a:hlinkClick r:id="rId3"/>
              </a:rPr>
              <a:t>https://github.com/Saarushi03/study_2025_2026_mathmod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Исследовать модель эффективности рекламы.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Построить график распространения рекламы, математическая модель которой описывается следующим уравнением:</a:t>
                </a:r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n</m:t>
                        </m:r>
                      </m:num>
                      <m:den>
                        <m:r>
                          <m:t>d</m:t>
                        </m:r>
                        <m: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0.84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0.00002</m:t>
                        </m:r>
                        <m: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</m:e>
                    </m:d>
                  </m:oMath>
                </a14:m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n</m:t>
                        </m:r>
                      </m:num>
                      <m:den>
                        <m:r>
                          <m:t>d</m:t>
                        </m:r>
                        <m: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0.000084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0.6</m:t>
                        </m:r>
                        <m: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</m:e>
                    </m:d>
                  </m:oMath>
                </a14:m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n</m:t>
                        </m:r>
                      </m:num>
                      <m:den>
                        <m:r>
                          <m:t>d</m:t>
                        </m:r>
                        <m: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0.3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0.3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  <m: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</m:e>
                    </m:d>
                  </m:oMath>
                </a14:m>
              </a:p>
              <a:p>
                <a:pPr lvl="0" indent="0" marL="0">
                  <a:buNone/>
                </a:pPr>
                <a:r>
                  <a:rPr/>
                  <a:t>При этом объем аудитории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910</m:t>
                    </m:r>
                  </m:oMath>
                </a14:m>
                <a:r>
                  <a:rPr/>
                  <a:t>, в начальный момент о товаре знает 16 человек. Для случая 2 определить в какой момент времени скорость распространения рекламы будет иметь максимальное значение.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using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DifferentialEquations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Plots;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f</a:t>
            </a:r>
            <a:r>
              <a:rPr>
                <a:latin typeface="Courier"/>
              </a:rPr>
              <a:t>(n, p, t)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(p[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n)</a:t>
            </a:r>
            <a:r>
              <a:rPr>
                <a:solidFill>
                  <a:srgbClr val="06287E"/>
                </a:solidFill>
                <a:latin typeface="Courier"/>
              </a:rPr>
              <a:t>*</a:t>
            </a:r>
            <a:r>
              <a:rPr>
                <a:latin typeface="Courier"/>
              </a:rPr>
              <a:t>(p[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n)</a:t>
            </a:r>
            <a:br/>
            <a:r>
              <a:rPr>
                <a:latin typeface="Courier"/>
              </a:rPr>
              <a:t>p1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0.84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0.00002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910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p2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0.00008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0.88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910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n_0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br/>
            <a:r>
              <a:rPr>
                <a:latin typeface="Courier"/>
              </a:rPr>
              <a:t>tspan1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16.0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tspan2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0.02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prob1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ODEProblem</a:t>
            </a:r>
            <a:r>
              <a:rPr>
                <a:latin typeface="Courier"/>
              </a:rPr>
              <a:t>(f, n_0, tspan1, p1)</a:t>
            </a:r>
            <a:br/>
            <a:r>
              <a:rPr>
                <a:latin typeface="Courier"/>
              </a:rPr>
              <a:t>prob2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ODEProblem</a:t>
            </a:r>
            <a:r>
              <a:rPr>
                <a:latin typeface="Courier"/>
              </a:rPr>
              <a:t>(f, n_0, tspan2, p2)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sol1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solve</a:t>
            </a:r>
            <a:r>
              <a:rPr>
                <a:latin typeface="Courier"/>
              </a:rPr>
              <a:t>(prob1, </a:t>
            </a:r>
            <a:r>
              <a:rPr>
                <a:solidFill>
                  <a:srgbClr val="06287E"/>
                </a:solidFill>
                <a:latin typeface="Courier"/>
              </a:rPr>
              <a:t>Tsit5</a:t>
            </a:r>
            <a:r>
              <a:rPr>
                <a:latin typeface="Courier"/>
              </a:rPr>
              <a:t>(), saveat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0.01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plot</a:t>
            </a:r>
            <a:r>
              <a:rPr>
                <a:latin typeface="Courier"/>
              </a:rPr>
              <a:t>(sol1, markersize </a:t>
            </a:r>
            <a:r>
              <a:rPr>
                <a:solidFill>
                  <a:srgbClr val="666666"/>
                </a:solidFill>
                <a:latin typeface="Courier"/>
              </a:rPr>
              <a:t>=: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, c </a:t>
            </a:r>
            <a:r>
              <a:rPr>
                <a:solidFill>
                  <a:srgbClr val="666666"/>
                </a:solidFill>
                <a:latin typeface="Courier"/>
              </a:rPr>
              <a:t>=:</a:t>
            </a:r>
            <a:r>
              <a:rPr>
                <a:latin typeface="Courier"/>
              </a:rPr>
              <a:t>green, yaxis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"N(t)"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1.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График распространения рекламы для случая 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sol2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solve</a:t>
            </a:r>
            <a:r>
              <a:rPr>
                <a:latin typeface="Courier"/>
              </a:rPr>
              <a:t>(prob2, </a:t>
            </a:r>
            <a:r>
              <a:rPr>
                <a:solidFill>
                  <a:srgbClr val="06287E"/>
                </a:solidFill>
                <a:latin typeface="Courier"/>
              </a:rPr>
              <a:t>Tsit5</a:t>
            </a:r>
            <a:r>
              <a:rPr>
                <a:latin typeface="Courier"/>
              </a:rPr>
              <a:t>(), saveat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0.0001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plot</a:t>
            </a:r>
            <a:r>
              <a:rPr>
                <a:latin typeface="Courier"/>
              </a:rPr>
              <a:t>(sol2, markersize </a:t>
            </a:r>
            <a:r>
              <a:rPr>
                <a:solidFill>
                  <a:srgbClr val="666666"/>
                </a:solidFill>
                <a:latin typeface="Courier"/>
              </a:rPr>
              <a:t>=: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, c</a:t>
            </a:r>
            <a:r>
              <a:rPr>
                <a:solidFill>
                  <a:srgbClr val="666666"/>
                </a:solidFill>
                <a:latin typeface="Courier"/>
              </a:rPr>
              <a:t>=:</a:t>
            </a:r>
            <a:r>
              <a:rPr>
                <a:latin typeface="Courier"/>
              </a:rPr>
              <a:t>green, yaxis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"N(t)"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1.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График распространения рекламы для случая 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f3</a:t>
            </a:r>
            <a:r>
              <a:rPr>
                <a:latin typeface="Courier"/>
              </a:rPr>
              <a:t>(u,p,t)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</a:t>
            </a:r>
            <a:br/>
            <a:r>
              <a:rPr>
                <a:latin typeface="Courier"/>
              </a:rPr>
              <a:t>    dn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solidFill>
                  <a:srgbClr val="06287E"/>
                </a:solidFill>
                <a:latin typeface="Courier"/>
              </a:rPr>
              <a:t>*sin</a:t>
            </a:r>
            <a:r>
              <a:rPr>
                <a:latin typeface="Courier"/>
              </a:rPr>
              <a:t>(t)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n)</a:t>
            </a:r>
            <a:r>
              <a:rPr>
                <a:solidFill>
                  <a:srgbClr val="06287E"/>
                </a:solidFill>
                <a:latin typeface="Courier"/>
              </a:rPr>
              <a:t>*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910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n)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>
                <a:latin typeface="Courier"/>
              </a:rPr>
              <a:t>u_0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br/>
            <a:r>
              <a:rPr>
                <a:latin typeface="Courier"/>
              </a:rPr>
              <a:t>tspan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prob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ODEProblem</a:t>
            </a:r>
            <a:r>
              <a:rPr>
                <a:latin typeface="Courier"/>
              </a:rPr>
              <a:t>(f3, u_0, tspan)</a:t>
            </a:r>
            <a:br/>
            <a:r>
              <a:rPr>
                <a:latin typeface="Courier"/>
              </a:rPr>
              <a:t>sol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DifferentialEquations.</a:t>
            </a:r>
            <a:r>
              <a:rPr>
                <a:solidFill>
                  <a:srgbClr val="06287E"/>
                </a:solidFill>
                <a:latin typeface="Courier"/>
              </a:rPr>
              <a:t>solve</a:t>
            </a:r>
            <a:r>
              <a:rPr>
                <a:latin typeface="Courier"/>
              </a:rPr>
              <a:t>(prob, </a:t>
            </a:r>
            <a:r>
              <a:rPr>
                <a:solidFill>
                  <a:srgbClr val="06287E"/>
                </a:solidFill>
                <a:latin typeface="Courier"/>
              </a:rPr>
              <a:t>Tsit5</a:t>
            </a:r>
            <a:r>
              <a:rPr>
                <a:latin typeface="Courier"/>
              </a:rPr>
              <a:t>(), saveat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0.001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plot</a:t>
            </a:r>
            <a:r>
              <a:rPr>
                <a:latin typeface="Courier"/>
              </a:rPr>
              <a:t>(sol, markersize </a:t>
            </a:r>
            <a:r>
              <a:rPr>
                <a:solidFill>
                  <a:srgbClr val="666666"/>
                </a:solidFill>
                <a:latin typeface="Courier"/>
              </a:rPr>
              <a:t>=: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, c</a:t>
            </a:r>
            <a:r>
              <a:rPr>
                <a:solidFill>
                  <a:srgbClr val="666666"/>
                </a:solidFill>
                <a:latin typeface="Courier"/>
              </a:rPr>
              <a:t>=:</a:t>
            </a:r>
            <a:r>
              <a:rPr>
                <a:latin typeface="Courier"/>
              </a:rPr>
              <a:t>green, yaxis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"N(t)"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1.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График распространения рекламы для случая 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результате выполнения данной лабораторной работы была исследована модель эффективности рекламы.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Исследование модели рекламной кампании [Электронный ресурс]. URL:https://studfile.net/preview/310591/.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Сингх Ааруши</dc:creator>
  <cp:keywords/>
  <dcterms:created xsi:type="dcterms:W3CDTF">2026-05-16T00:14:40Z</dcterms:created>
  <dcterms:modified xsi:type="dcterms:W3CDTF">2026-05-16T00:14:40Z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2026-05-01</vt:lpwstr>
  </property>
  <property fmtid="{D5CDD505-2E9C-101B-9397-08002B2CF9AE}" pid="9" name="date-format">
    <vt:lpwstr>2026-05-01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Задача об эпидемии</vt:lpwstr>
  </property>
  <property fmtid="{D5CDD505-2E9C-101B-9397-08002B2CF9AE}" pid="16" name="toc-title">
    <vt:lpwstr>Содержание</vt:lpwstr>
  </property>
</Properties>
</file>