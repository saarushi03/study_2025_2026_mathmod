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89636" autoAdjust="0"/>
  </p:normalViewPr>
  <p:slideViewPr>
    <p:cSldViewPr snapToGrid="0" snapToObjects="1">
      <p:cViewPr varScale="1">
        <p:scale>
          <a:sx n="76" d="100"/>
          <a:sy n="76" d="100"/>
        </p:scale>
        <p:origin x="992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mathmod" TargetMode="External"/><Relationship Id="rId2" Type="http://schemas.openxmlformats.org/officeDocument/2006/relationships/hyperlink" Target="mailto:1132215095@rudn.ru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Лабораторная работа №4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Модель гармонических колебаний вариант 26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2026-04-04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1132215095@rudn.ru</a:t>
            </a:r>
          </a:p>
          <a:p>
            <a:pPr lvl="0"/>
            <a:r>
              <a:rPr>
                <a:hlinkClick r:id="rId3"/>
              </a:rPr>
              <a:t>https://github.com/Saarushi03/study_2025_2026_mathmod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Построить математическую модель гармонического осциллятора.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1090" y="1124125"/>
                <a:ext cx="8229600" cy="3394472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 err="1"/>
                  <a:t>Построить</a:t>
                </a:r>
                <a:r>
                  <a:rPr dirty="0"/>
                  <a:t> </a:t>
                </a:r>
                <a:r>
                  <a:rPr dirty="0" err="1"/>
                  <a:t>фазовый</a:t>
                </a:r>
                <a:r>
                  <a:rPr dirty="0"/>
                  <a:t> </a:t>
                </a:r>
                <a:r>
                  <a:rPr dirty="0" err="1"/>
                  <a:t>портрет</a:t>
                </a:r>
                <a:r>
                  <a:rPr dirty="0"/>
                  <a:t> </a:t>
                </a:r>
                <a:r>
                  <a:rPr dirty="0" err="1"/>
                  <a:t>гармонического</a:t>
                </a:r>
                <a:r>
                  <a:rPr dirty="0"/>
                  <a:t> </a:t>
                </a:r>
                <a:r>
                  <a:rPr dirty="0" err="1"/>
                  <a:t>осциллятора</a:t>
                </a:r>
                <a:r>
                  <a:rPr dirty="0"/>
                  <a:t> и </a:t>
                </a:r>
                <a:r>
                  <a:rPr dirty="0" err="1"/>
                  <a:t>решение</a:t>
                </a:r>
                <a:r>
                  <a:rPr dirty="0"/>
                  <a:t> </a:t>
                </a:r>
                <a:r>
                  <a:rPr dirty="0" err="1"/>
                  <a:t>уравнения</a:t>
                </a:r>
                <a:r>
                  <a:rPr dirty="0"/>
                  <a:t> </a:t>
                </a:r>
                <a:r>
                  <a:rPr dirty="0" err="1"/>
                  <a:t>гармонического</a:t>
                </a:r>
                <a:r>
                  <a:rPr dirty="0"/>
                  <a:t> </a:t>
                </a:r>
                <a:r>
                  <a:rPr dirty="0" err="1"/>
                  <a:t>осциллятора</a:t>
                </a:r>
                <a:r>
                  <a:rPr dirty="0"/>
                  <a:t> </a:t>
                </a:r>
                <a:r>
                  <a:rPr dirty="0" err="1"/>
                  <a:t>для</a:t>
                </a:r>
                <a:r>
                  <a:rPr dirty="0"/>
                  <a:t> </a:t>
                </a:r>
                <a:r>
                  <a:rPr dirty="0" err="1"/>
                  <a:t>следующих</a:t>
                </a:r>
                <a:r>
                  <a:rPr dirty="0"/>
                  <a:t> </a:t>
                </a:r>
                <a:r>
                  <a:rPr dirty="0" err="1"/>
                  <a:t>случаев</a:t>
                </a:r>
                <a:r>
                  <a:rPr dirty="0"/>
                  <a:t>:</a:t>
                </a:r>
              </a:p>
              <a:p>
                <a:pPr marL="342900" lvl="0" indent="-342900">
                  <a:buAutoNum type="arabicPeriod"/>
                </a:pPr>
                <a:r>
                  <a:rPr dirty="0" err="1"/>
                  <a:t>Колебания</a:t>
                </a:r>
                <a:r>
                  <a:rPr dirty="0"/>
                  <a:t> </a:t>
                </a:r>
                <a:r>
                  <a:rPr dirty="0" err="1"/>
                  <a:t>гармонического</a:t>
                </a:r>
                <a:r>
                  <a:rPr dirty="0"/>
                  <a:t> </a:t>
                </a:r>
                <a:r>
                  <a:rPr dirty="0" err="1"/>
                  <a:t>осциллятора</a:t>
                </a:r>
                <a:r>
                  <a:rPr dirty="0"/>
                  <a:t> </a:t>
                </a:r>
                <a:r>
                  <a:rPr dirty="0" err="1"/>
                  <a:t>без</a:t>
                </a:r>
                <a:r>
                  <a:rPr dirty="0"/>
                  <a:t> </a:t>
                </a:r>
                <a:r>
                  <a:rPr dirty="0" err="1"/>
                  <a:t>затуханий</a:t>
                </a:r>
                <a:r>
                  <a:rPr dirty="0"/>
                  <a:t> и </a:t>
                </a:r>
                <a:r>
                  <a:rPr dirty="0" err="1"/>
                  <a:t>без</a:t>
                </a:r>
                <a:r>
                  <a:rPr dirty="0"/>
                  <a:t> </a:t>
                </a:r>
                <a:r>
                  <a:rPr dirty="0" err="1"/>
                  <a:t>действий</a:t>
                </a:r>
                <a:r>
                  <a:rPr dirty="0"/>
                  <a:t> </a:t>
                </a:r>
                <a:r>
                  <a:rPr dirty="0" err="1"/>
                  <a:t>внешней</a:t>
                </a:r>
                <a:r>
                  <a:rPr dirty="0"/>
                  <a:t> </a:t>
                </a:r>
                <a:r>
                  <a:rPr dirty="0" err="1"/>
                  <a:t>силы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+4.4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dirty="0"/>
              </a:p>
              <a:p>
                <a:pPr marL="342900" lvl="0" indent="-342900">
                  <a:buAutoNum type="arabicPeriod"/>
                </a:pPr>
                <a:r>
                  <a:rPr dirty="0" err="1"/>
                  <a:t>Колебания</a:t>
                </a:r>
                <a:r>
                  <a:rPr dirty="0"/>
                  <a:t> </a:t>
                </a:r>
                <a:r>
                  <a:rPr dirty="0" err="1"/>
                  <a:t>гармонического</a:t>
                </a:r>
                <a:r>
                  <a:rPr dirty="0"/>
                  <a:t> </a:t>
                </a:r>
                <a:r>
                  <a:rPr dirty="0" err="1"/>
                  <a:t>осциллятора</a:t>
                </a:r>
                <a:r>
                  <a:rPr dirty="0"/>
                  <a:t> c </a:t>
                </a:r>
                <a:r>
                  <a:rPr dirty="0" err="1"/>
                  <a:t>затуханием</a:t>
                </a:r>
                <a:r>
                  <a:rPr dirty="0"/>
                  <a:t> и </a:t>
                </a:r>
                <a:r>
                  <a:rPr dirty="0" err="1"/>
                  <a:t>без</a:t>
                </a:r>
                <a:r>
                  <a:rPr dirty="0"/>
                  <a:t> </a:t>
                </a:r>
                <a:r>
                  <a:rPr dirty="0" err="1"/>
                  <a:t>действий</a:t>
                </a:r>
                <a:r>
                  <a:rPr dirty="0"/>
                  <a:t> </a:t>
                </a:r>
                <a:r>
                  <a:rPr dirty="0" err="1"/>
                  <a:t>внешней</a:t>
                </a:r>
                <a:r>
                  <a:rPr dirty="0"/>
                  <a:t> </a:t>
                </a:r>
                <a:r>
                  <a:rPr dirty="0" err="1"/>
                  <a:t>силы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+2.5</m:t>
                      </m:r>
                      <m:acc>
                        <m:accPr>
                          <m:chr m:val="̇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dirty="0"/>
              </a:p>
              <a:p>
                <a:pPr marL="342900" lvl="0" indent="-342900">
                  <a:buAutoNum type="arabicPeriod" startAt="3"/>
                </a:pPr>
                <a:r>
                  <a:rPr dirty="0" err="1"/>
                  <a:t>Колебания</a:t>
                </a:r>
                <a:r>
                  <a:rPr dirty="0"/>
                  <a:t> </a:t>
                </a:r>
                <a:r>
                  <a:rPr dirty="0" err="1"/>
                  <a:t>гармонического</a:t>
                </a:r>
                <a:r>
                  <a:rPr dirty="0"/>
                  <a:t> </a:t>
                </a:r>
                <a:r>
                  <a:rPr dirty="0" err="1"/>
                  <a:t>осциллятора</a:t>
                </a:r>
                <a:r>
                  <a:rPr dirty="0"/>
                  <a:t> c </a:t>
                </a:r>
                <a:r>
                  <a:rPr dirty="0" err="1"/>
                  <a:t>затуханием</a:t>
                </a:r>
                <a:r>
                  <a:rPr dirty="0"/>
                  <a:t> и </a:t>
                </a:r>
                <a:r>
                  <a:rPr dirty="0" err="1"/>
                  <a:t>под</a:t>
                </a:r>
                <a:r>
                  <a:rPr dirty="0"/>
                  <a:t> </a:t>
                </a:r>
                <a:r>
                  <a:rPr dirty="0" err="1"/>
                  <a:t>действием</a:t>
                </a:r>
                <a:r>
                  <a:rPr dirty="0"/>
                  <a:t> </a:t>
                </a:r>
                <a:r>
                  <a:rPr dirty="0" err="1"/>
                  <a:t>внешней</a:t>
                </a:r>
                <a:r>
                  <a:rPr dirty="0"/>
                  <a:t> </a:t>
                </a:r>
                <a:r>
                  <a:rPr dirty="0" err="1"/>
                  <a:t>силы</a:t>
                </a:r>
                <a:endParaRPr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+2</m:t>
                      </m:r>
                      <m:acc>
                        <m:accPr>
                          <m:chr m:val="̇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+3.3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=3.3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  <a:p>
                <a:pPr marL="342900" lvl="1" indent="0">
                  <a:buNone/>
                </a:pPr>
                <a:r>
                  <a:rPr dirty="0" err="1"/>
                  <a:t>На</a:t>
                </a:r>
                <a:r>
                  <a:rPr dirty="0"/>
                  <a:t> </a:t>
                </a:r>
                <a:r>
                  <a:rPr dirty="0" err="1"/>
                  <a:t>интервале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0;53</m:t>
                        </m:r>
                      </m:e>
                    </m:d>
                  </m:oMath>
                </a14:m>
                <a:r>
                  <a:rPr dirty="0"/>
                  <a:t> (</a:t>
                </a:r>
                <a:r>
                  <a:rPr dirty="0" err="1"/>
                  <a:t>шаг</a:t>
                </a:r>
                <a:r>
                  <a:rPr dirty="0"/>
                  <a:t> 0.05) с </a:t>
                </a:r>
                <a:r>
                  <a:rPr dirty="0" err="1"/>
                  <a:t>начальными</a:t>
                </a:r>
                <a:r>
                  <a:rPr dirty="0"/>
                  <a:t> </a:t>
                </a:r>
                <a:r>
                  <a:rPr dirty="0" err="1"/>
                  <a:t>условиями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=0,  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=−1.5.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090" y="1124125"/>
                <a:ext cx="8229600" cy="3394472"/>
              </a:xfrm>
              <a:blipFill>
                <a:blip r:embed="rId2"/>
                <a:stretch>
                  <a:fillRect l="-741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600" dirty="0"/>
              <a:t>Модель </a:t>
            </a:r>
            <a:r>
              <a:rPr sz="1600" dirty="0" err="1"/>
              <a:t>колебаний</a:t>
            </a:r>
            <a:r>
              <a:rPr sz="1600" dirty="0"/>
              <a:t> </a:t>
            </a:r>
            <a:r>
              <a:rPr sz="1600" dirty="0" err="1"/>
              <a:t>гармонического</a:t>
            </a:r>
            <a:r>
              <a:rPr sz="1600" dirty="0"/>
              <a:t> </a:t>
            </a:r>
            <a:r>
              <a:rPr sz="1600" dirty="0" err="1"/>
              <a:t>осциллятора</a:t>
            </a:r>
            <a:r>
              <a:rPr sz="1600" dirty="0"/>
              <a:t> </a:t>
            </a:r>
            <a:r>
              <a:rPr sz="1600" dirty="0" err="1"/>
              <a:t>без</a:t>
            </a:r>
            <a:r>
              <a:rPr sz="1600" dirty="0"/>
              <a:t> </a:t>
            </a:r>
            <a:r>
              <a:rPr sz="1600" dirty="0" err="1"/>
              <a:t>затуханий</a:t>
            </a:r>
            <a:r>
              <a:rPr sz="1600" dirty="0"/>
              <a:t> и </a:t>
            </a:r>
            <a:r>
              <a:rPr sz="1600" dirty="0" err="1"/>
              <a:t>без</a:t>
            </a:r>
            <a:r>
              <a:rPr sz="1600" dirty="0"/>
              <a:t> </a:t>
            </a:r>
            <a:r>
              <a:rPr sz="1600" dirty="0" err="1"/>
              <a:t>действий</a:t>
            </a:r>
            <a:r>
              <a:rPr sz="1600" dirty="0"/>
              <a:t> </a:t>
            </a:r>
            <a:r>
              <a:rPr sz="1600" dirty="0" err="1"/>
              <a:t>внешней</a:t>
            </a:r>
            <a:r>
              <a:rPr sz="1600" dirty="0"/>
              <a:t> </a:t>
            </a:r>
            <a:r>
              <a:rPr sz="1600" dirty="0" err="1"/>
              <a:t>силы</a:t>
            </a:r>
            <a:endParaRPr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br>
              <a:rPr dirty="0"/>
            </a:br>
            <a:r>
              <a:rPr sz="1600" i="1" dirty="0">
                <a:solidFill>
                  <a:srgbClr val="60A0B0"/>
                </a:solidFill>
                <a:latin typeface="Courier"/>
              </a:rPr>
              <a:t>#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Используемые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библиотеки</a:t>
            </a:r>
            <a:br>
              <a:rPr sz="1600" dirty="0"/>
            </a:br>
            <a:r>
              <a:rPr sz="1600" b="1" dirty="0">
                <a:solidFill>
                  <a:srgbClr val="008000"/>
                </a:solidFill>
                <a:latin typeface="Courier"/>
              </a:rPr>
              <a:t>using</a:t>
            </a:r>
            <a:r>
              <a:rPr sz="1600" dirty="0">
                <a:latin typeface="Courier"/>
              </a:rPr>
              <a:t> </a:t>
            </a:r>
            <a:r>
              <a:rPr sz="1600" dirty="0" err="1">
                <a:solidFill>
                  <a:srgbClr val="008000"/>
                </a:solidFill>
                <a:latin typeface="Courier"/>
              </a:rPr>
              <a:t>DifferentialEquations</a:t>
            </a:r>
            <a:r>
              <a:rPr sz="1600" dirty="0">
                <a:latin typeface="Courier"/>
              </a:rPr>
              <a:t>, </a:t>
            </a:r>
            <a:r>
              <a:rPr sz="1600" dirty="0">
                <a:solidFill>
                  <a:srgbClr val="008000"/>
                </a:solidFill>
                <a:latin typeface="Courier"/>
              </a:rPr>
              <a:t>Plots;</a:t>
            </a:r>
            <a:br>
              <a:rPr sz="1600" dirty="0"/>
            </a:br>
            <a:br>
              <a:rPr sz="1600" dirty="0"/>
            </a:br>
            <a:r>
              <a:rPr sz="1600" i="1" dirty="0">
                <a:solidFill>
                  <a:srgbClr val="60A0B0"/>
                </a:solidFill>
                <a:latin typeface="Courier"/>
              </a:rPr>
              <a:t>#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Начальные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условия</a:t>
            </a:r>
            <a:br>
              <a:rPr sz="1600" dirty="0"/>
            </a:br>
            <a:r>
              <a:rPr sz="1600" dirty="0" err="1">
                <a:latin typeface="Courier"/>
              </a:rPr>
              <a:t>tspan</a:t>
            </a:r>
            <a:r>
              <a:rPr sz="1600" dirty="0">
                <a:latin typeface="Courier"/>
              </a:rPr>
              <a:t>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=</a:t>
            </a:r>
            <a:r>
              <a:rPr sz="1600" dirty="0">
                <a:latin typeface="Courier"/>
              </a:rPr>
              <a:t> (</a:t>
            </a:r>
            <a:r>
              <a:rPr sz="1600" dirty="0">
                <a:solidFill>
                  <a:srgbClr val="40A070"/>
                </a:solidFill>
                <a:latin typeface="Courier"/>
              </a:rPr>
              <a:t>0</a:t>
            </a:r>
            <a:r>
              <a:rPr sz="1600" dirty="0">
                <a:latin typeface="Courier"/>
              </a:rPr>
              <a:t>,</a:t>
            </a:r>
            <a:r>
              <a:rPr sz="1600" dirty="0">
                <a:solidFill>
                  <a:srgbClr val="40A070"/>
                </a:solidFill>
                <a:latin typeface="Courier"/>
              </a:rPr>
              <a:t>53</a:t>
            </a:r>
            <a:r>
              <a:rPr sz="1600" dirty="0">
                <a:latin typeface="Courier"/>
              </a:rPr>
              <a:t>)</a:t>
            </a:r>
            <a:br>
              <a:rPr sz="1600" dirty="0"/>
            </a:br>
            <a:r>
              <a:rPr sz="1600" dirty="0">
                <a:latin typeface="Courier"/>
              </a:rPr>
              <a:t>u0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=</a:t>
            </a:r>
            <a:r>
              <a:rPr sz="1600" dirty="0">
                <a:latin typeface="Courier"/>
              </a:rPr>
              <a:t> [</a:t>
            </a:r>
            <a:r>
              <a:rPr sz="1600" dirty="0">
                <a:solidFill>
                  <a:srgbClr val="40A070"/>
                </a:solidFill>
                <a:latin typeface="Courier"/>
              </a:rPr>
              <a:t>0</a:t>
            </a:r>
            <a:r>
              <a:rPr sz="1600" dirty="0">
                <a:latin typeface="Courier"/>
              </a:rPr>
              <a:t>,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>
                <a:solidFill>
                  <a:srgbClr val="40A070"/>
                </a:solidFill>
                <a:latin typeface="Courier"/>
              </a:rPr>
              <a:t>1.5</a:t>
            </a:r>
            <a:r>
              <a:rPr sz="1600" dirty="0">
                <a:latin typeface="Courier"/>
              </a:rPr>
              <a:t>]</a:t>
            </a:r>
            <a:br>
              <a:rPr sz="1600" dirty="0"/>
            </a:br>
            <a:r>
              <a:rPr sz="1600" dirty="0">
                <a:latin typeface="Courier"/>
              </a:rPr>
              <a:t>p1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=</a:t>
            </a:r>
            <a:r>
              <a:rPr sz="1600" dirty="0">
                <a:latin typeface="Courier"/>
              </a:rPr>
              <a:t> [</a:t>
            </a:r>
            <a:r>
              <a:rPr sz="1600" dirty="0">
                <a:solidFill>
                  <a:srgbClr val="40A070"/>
                </a:solidFill>
                <a:latin typeface="Courier"/>
              </a:rPr>
              <a:t>0</a:t>
            </a:r>
            <a:r>
              <a:rPr sz="1600" dirty="0">
                <a:latin typeface="Courier"/>
              </a:rPr>
              <a:t>, </a:t>
            </a:r>
            <a:r>
              <a:rPr sz="1600" dirty="0">
                <a:solidFill>
                  <a:srgbClr val="40A070"/>
                </a:solidFill>
                <a:latin typeface="Courier"/>
              </a:rPr>
              <a:t>4.4</a:t>
            </a:r>
            <a:r>
              <a:rPr sz="1600" dirty="0">
                <a:latin typeface="Courier"/>
              </a:rPr>
              <a:t>]</a:t>
            </a:r>
            <a:br>
              <a:rPr sz="1600" dirty="0"/>
            </a:br>
            <a:br>
              <a:rPr sz="1600" dirty="0"/>
            </a:br>
            <a:r>
              <a:rPr sz="1600" i="1" dirty="0">
                <a:solidFill>
                  <a:srgbClr val="60A0B0"/>
                </a:solidFill>
                <a:latin typeface="Courier"/>
              </a:rPr>
              <a:t>## Модель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колебаний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гармонического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осциллятора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без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затуханий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и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без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действий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внешней</a:t>
            </a:r>
            <a:r>
              <a:rPr sz="16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600" i="1" dirty="0" err="1">
                <a:solidFill>
                  <a:srgbClr val="60A0B0"/>
                </a:solidFill>
                <a:latin typeface="Courier"/>
              </a:rPr>
              <a:t>силы</a:t>
            </a:r>
            <a:br>
              <a:rPr sz="1600" dirty="0"/>
            </a:b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```Julia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#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Задание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функции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function f1(u, p, t)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    x, y = u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    g, w = p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    dx = y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   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= -g .*y - w^2 .*x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    return [dx,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sz="1600" dirty="0">
                <a:solidFill>
                  <a:srgbClr val="BB6688"/>
                </a:solidFill>
                <a:latin typeface="Courier"/>
              </a:rPr>
              <a:t>]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end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#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Постановка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проблемы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и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ее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решение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problem1 =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ODEProblem</a:t>
            </a:r>
            <a:r>
              <a:rPr sz="1600" dirty="0">
                <a:solidFill>
                  <a:srgbClr val="BB6688"/>
                </a:solidFill>
                <a:latin typeface="Courier"/>
              </a:rPr>
              <a:t>(f1, u0,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tspan</a:t>
            </a:r>
            <a:r>
              <a:rPr sz="1600" dirty="0">
                <a:solidFill>
                  <a:srgbClr val="BB6688"/>
                </a:solidFill>
                <a:latin typeface="Courier"/>
              </a:rPr>
              <a:t>, p1)</a:t>
            </a:r>
            <a:br>
              <a:rPr sz="1600" dirty="0"/>
            </a:br>
            <a:r>
              <a:rPr sz="1600" dirty="0">
                <a:solidFill>
                  <a:srgbClr val="BB6688"/>
                </a:solidFill>
                <a:latin typeface="Courier"/>
              </a:rPr>
              <a:t>sol1 = solve(problem1, Tsit5(), </a:t>
            </a:r>
            <a:r>
              <a:rPr sz="1600" dirty="0" err="1">
                <a:solidFill>
                  <a:srgbClr val="BB6688"/>
                </a:solidFill>
                <a:latin typeface="Courier"/>
              </a:rPr>
              <a:t>saveat</a:t>
            </a:r>
            <a:r>
              <a:rPr sz="1600" dirty="0">
                <a:solidFill>
                  <a:srgbClr val="BB6688"/>
                </a:solidFill>
                <a:latin typeface="Courier"/>
              </a:rPr>
              <a:t> = 0.05)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Модель </a:t>
            </a:r>
            <a:r>
              <a:rPr sz="2800" dirty="0" err="1"/>
              <a:t>колебаний</a:t>
            </a:r>
            <a:r>
              <a:rPr sz="2800" dirty="0"/>
              <a:t> </a:t>
            </a:r>
            <a:r>
              <a:rPr sz="2800" dirty="0" err="1"/>
              <a:t>гармонического</a:t>
            </a:r>
            <a:r>
              <a:rPr sz="2800" dirty="0"/>
              <a:t> </a:t>
            </a:r>
            <a:r>
              <a:rPr sz="2800" dirty="0" err="1"/>
              <a:t>осциллятора</a:t>
            </a:r>
            <a:r>
              <a:rPr sz="2800" dirty="0"/>
              <a:t> </a:t>
            </a:r>
            <a:r>
              <a:rPr sz="2800" dirty="0" err="1"/>
              <a:t>без</a:t>
            </a:r>
            <a:r>
              <a:rPr sz="2800" dirty="0"/>
              <a:t> </a:t>
            </a:r>
            <a:r>
              <a:rPr sz="2800" dirty="0" err="1"/>
              <a:t>затуханий</a:t>
            </a:r>
            <a:r>
              <a:rPr sz="2800" dirty="0"/>
              <a:t> и </a:t>
            </a:r>
            <a:r>
              <a:rPr sz="2800" dirty="0" err="1"/>
              <a:t>без</a:t>
            </a:r>
            <a:r>
              <a:rPr sz="2800" dirty="0"/>
              <a:t> </a:t>
            </a:r>
            <a:r>
              <a:rPr sz="2800" dirty="0" err="1"/>
              <a:t>действий</a:t>
            </a:r>
            <a:r>
              <a:rPr sz="2800" dirty="0"/>
              <a:t> </a:t>
            </a:r>
            <a:r>
              <a:rPr sz="2800" dirty="0" err="1"/>
              <a:t>внешней</a:t>
            </a:r>
            <a:r>
              <a:rPr sz="2800" dirty="0"/>
              <a:t> </a:t>
            </a:r>
            <a:r>
              <a:rPr sz="2800" dirty="0" err="1"/>
              <a:t>силы</a:t>
            </a:r>
            <a:endParaRPr sz="2800" dirty="0"/>
          </a:p>
        </p:txBody>
      </p:sp>
      <p:pic>
        <p:nvPicPr>
          <p:cNvPr id="3" name="Picture 1" descr="image/1.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Колебания гармонического осциллятора без затуханий и без действий внешней силы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Модель колебаний гармонического осциллятора без затуханий и без действий внешней силы</a:t>
            </a:r>
          </a:p>
        </p:txBody>
      </p:sp>
      <p:pic>
        <p:nvPicPr>
          <p:cNvPr id="3" name="Picture 1" descr="image/1.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Фазовый портрет колебаний гармонического осциллятора без затуханий и без действий внешней силы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328747"/>
            <a:ext cx="822960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Модель </a:t>
            </a:r>
            <a:r>
              <a:rPr dirty="0" err="1"/>
              <a:t>колебаний</a:t>
            </a:r>
            <a:r>
              <a:rPr dirty="0"/>
              <a:t> </a:t>
            </a:r>
            <a:r>
              <a:rPr dirty="0" err="1"/>
              <a:t>гармонического</a:t>
            </a:r>
            <a:r>
              <a:rPr dirty="0"/>
              <a:t> </a:t>
            </a:r>
            <a:r>
              <a:rPr dirty="0" err="1"/>
              <a:t>осциллятора</a:t>
            </a:r>
            <a:r>
              <a:rPr dirty="0"/>
              <a:t> c </a:t>
            </a:r>
            <a:r>
              <a:rPr dirty="0" err="1"/>
              <a:t>затуханием</a:t>
            </a:r>
            <a:r>
              <a:rPr dirty="0"/>
              <a:t> и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внешней</a:t>
            </a:r>
            <a:r>
              <a:rPr dirty="0"/>
              <a:t> </a:t>
            </a:r>
            <a:r>
              <a:rPr dirty="0" err="1"/>
              <a:t>силы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#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Начальные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условия</a:t>
            </a:r>
            <a:br>
              <a:rPr sz="1200" dirty="0"/>
            </a:br>
            <a:r>
              <a:rPr sz="1200" dirty="0" err="1">
                <a:latin typeface="Courier"/>
              </a:rPr>
              <a:t>tspan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(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53</a:t>
            </a:r>
            <a:r>
              <a:rPr sz="1200" dirty="0">
                <a:latin typeface="Courier"/>
              </a:rPr>
              <a:t>)</a:t>
            </a:r>
            <a:br>
              <a:rPr sz="1200" dirty="0"/>
            </a:br>
            <a:r>
              <a:rPr sz="1200" dirty="0">
                <a:latin typeface="Courier"/>
              </a:rPr>
              <a:t>u0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[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-</a:t>
            </a:r>
            <a:r>
              <a:rPr sz="1200" dirty="0">
                <a:solidFill>
                  <a:srgbClr val="40A070"/>
                </a:solidFill>
                <a:latin typeface="Courier"/>
              </a:rPr>
              <a:t>1.5</a:t>
            </a:r>
            <a:r>
              <a:rPr sz="1200" dirty="0">
                <a:latin typeface="Courier"/>
              </a:rPr>
              <a:t>]</a:t>
            </a:r>
            <a:br>
              <a:rPr sz="1200" dirty="0"/>
            </a:br>
            <a:r>
              <a:rPr sz="1200" dirty="0">
                <a:latin typeface="Courier"/>
              </a:rPr>
              <a:t>p2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[</a:t>
            </a:r>
            <a:r>
              <a:rPr sz="1200" dirty="0">
                <a:solidFill>
                  <a:srgbClr val="40A070"/>
                </a:solidFill>
                <a:latin typeface="Courier"/>
              </a:rPr>
              <a:t>2.5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4</a:t>
            </a:r>
            <a:r>
              <a:rPr sz="1200" dirty="0">
                <a:latin typeface="Courier"/>
              </a:rPr>
              <a:t>]</a:t>
            </a:r>
            <a:br>
              <a:rPr sz="1200" dirty="0"/>
            </a:br>
            <a:br>
              <a:rPr sz="12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## Модель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колебаний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гармонического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осциллятора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c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затуханием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и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без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действий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внешней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силы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br>
              <a:rPr sz="1200" dirty="0"/>
            </a:b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```Julia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#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Задание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функции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function f1(u, p, t)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    x, y = u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    g, w = p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    dx = y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   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= -g .*y - w^2 .*x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    return [dx,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sz="1200" dirty="0">
                <a:solidFill>
                  <a:srgbClr val="BB6688"/>
                </a:solidFill>
                <a:latin typeface="Courier"/>
              </a:rPr>
              <a:t>]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end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#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Постановка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проблемы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и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ее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решение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problem2 =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ODEProblem</a:t>
            </a:r>
            <a:r>
              <a:rPr sz="1200" dirty="0">
                <a:solidFill>
                  <a:srgbClr val="BB6688"/>
                </a:solidFill>
                <a:latin typeface="Courier"/>
              </a:rPr>
              <a:t>(f1, u0,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tspan</a:t>
            </a:r>
            <a:r>
              <a:rPr sz="1200" dirty="0">
                <a:solidFill>
                  <a:srgbClr val="BB6688"/>
                </a:solidFill>
                <a:latin typeface="Courier"/>
              </a:rPr>
              <a:t>, p2)</a:t>
            </a:r>
            <a:br>
              <a:rPr sz="1200" dirty="0"/>
            </a:br>
            <a:r>
              <a:rPr sz="1200" dirty="0">
                <a:solidFill>
                  <a:srgbClr val="BB6688"/>
                </a:solidFill>
                <a:latin typeface="Courier"/>
              </a:rPr>
              <a:t>sol2 = solve(problem2, Tsit5(), </a:t>
            </a:r>
            <a:r>
              <a:rPr sz="1200" dirty="0" err="1">
                <a:solidFill>
                  <a:srgbClr val="BB6688"/>
                </a:solidFill>
                <a:latin typeface="Courier"/>
              </a:rPr>
              <a:t>saveat</a:t>
            </a:r>
            <a:r>
              <a:rPr sz="1200" dirty="0">
                <a:solidFill>
                  <a:srgbClr val="BB6688"/>
                </a:solidFill>
                <a:latin typeface="Courier"/>
              </a:rPr>
              <a:t> = 0.05)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862"/>
            <a:ext cx="822960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Модель </a:t>
            </a:r>
            <a:r>
              <a:rPr dirty="0" err="1"/>
              <a:t>колебаний</a:t>
            </a:r>
            <a:r>
              <a:rPr dirty="0"/>
              <a:t> </a:t>
            </a:r>
            <a:r>
              <a:rPr dirty="0" err="1"/>
              <a:t>гармонического</a:t>
            </a:r>
            <a:r>
              <a:rPr dirty="0"/>
              <a:t> </a:t>
            </a:r>
            <a:r>
              <a:rPr dirty="0" err="1"/>
              <a:t>осциллятора</a:t>
            </a:r>
            <a:r>
              <a:rPr dirty="0"/>
              <a:t> c </a:t>
            </a:r>
            <a:r>
              <a:rPr dirty="0" err="1"/>
              <a:t>затуханием</a:t>
            </a:r>
            <a:r>
              <a:rPr dirty="0"/>
              <a:t> и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внешней</a:t>
            </a:r>
            <a:r>
              <a:rPr dirty="0"/>
              <a:t> </a:t>
            </a:r>
            <a:r>
              <a:rPr dirty="0" err="1"/>
              <a:t>силы</a:t>
            </a:r>
            <a:endParaRPr dirty="0"/>
          </a:p>
        </p:txBody>
      </p:sp>
      <p:pic>
        <p:nvPicPr>
          <p:cNvPr id="3" name="Picture 1" descr="image/1.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Колебания гармонического осциллятора с затуханием и без действий внешней силы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dirty="0"/>
              <a:t>Модель </a:t>
            </a:r>
            <a:r>
              <a:rPr dirty="0" err="1"/>
              <a:t>колебаний</a:t>
            </a:r>
            <a:r>
              <a:rPr dirty="0"/>
              <a:t> </a:t>
            </a:r>
            <a:r>
              <a:rPr dirty="0" err="1"/>
              <a:t>гармонического</a:t>
            </a:r>
            <a:r>
              <a:rPr dirty="0"/>
              <a:t> </a:t>
            </a:r>
            <a:r>
              <a:rPr dirty="0" err="1"/>
              <a:t>внешней</a:t>
            </a:r>
            <a:r>
              <a:rPr dirty="0"/>
              <a:t> </a:t>
            </a:r>
            <a:r>
              <a:rPr dirty="0" err="1"/>
              <a:t>силы</a:t>
            </a:r>
            <a:r>
              <a:rPr lang="ru-RU" dirty="0"/>
              <a:t>осциллятора c затуханием и без действий </a:t>
            </a:r>
            <a:endParaRPr dirty="0"/>
          </a:p>
        </p:txBody>
      </p:sp>
      <p:pic>
        <p:nvPicPr>
          <p:cNvPr id="3" name="Picture 1" descr="image/1.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Фазовый портрет колебаний гармонического осциллятора с затуханием и без действий внешней силы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Модель колебаний гармонического осциллятора c затуханием и под действием внешней силы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Начальные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условия</a:t>
            </a:r>
            <a:br>
              <a:rPr dirty="0"/>
            </a:br>
            <a:r>
              <a:rPr dirty="0" err="1">
                <a:latin typeface="Courier"/>
              </a:rPr>
              <a:t>tspan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(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53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u0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1.5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>
                <a:latin typeface="Courier"/>
              </a:rPr>
              <a:t>p3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A070"/>
                </a:solidFill>
                <a:latin typeface="Courier"/>
              </a:rPr>
              <a:t>3.3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Функция</a:t>
            </a:r>
            <a:r>
              <a:rPr i="1" dirty="0">
                <a:solidFill>
                  <a:srgbClr val="60A0B0"/>
                </a:solidFill>
                <a:latin typeface="Courier"/>
              </a:rPr>
              <a:t>,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описывающая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внешние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силы</a:t>
            </a:r>
            <a:r>
              <a:rPr i="1" dirty="0">
                <a:solidFill>
                  <a:srgbClr val="60A0B0"/>
                </a:solidFill>
                <a:latin typeface="Courier"/>
              </a:rPr>
              <a:t>,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действующие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на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осциллятор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f</a:t>
            </a:r>
            <a:r>
              <a:rPr dirty="0">
                <a:latin typeface="Courier"/>
              </a:rPr>
              <a:t>(t)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3.3</a:t>
            </a:r>
            <a:r>
              <a:rPr dirty="0">
                <a:solidFill>
                  <a:srgbClr val="06287E"/>
                </a:solidFill>
                <a:latin typeface="Courier"/>
              </a:rPr>
              <a:t>*cos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t)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```Julia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# </a:t>
            </a:r>
            <a:r>
              <a:rPr dirty="0" err="1">
                <a:solidFill>
                  <a:srgbClr val="BB6688"/>
                </a:solidFill>
                <a:latin typeface="Courier"/>
              </a:rPr>
              <a:t>Задание</a:t>
            </a:r>
            <a:r>
              <a:rPr dirty="0">
                <a:solidFill>
                  <a:srgbClr val="BB6688"/>
                </a:solidFill>
                <a:latin typeface="Courier"/>
              </a:rPr>
              <a:t> </a:t>
            </a:r>
            <a:r>
              <a:rPr dirty="0" err="1">
                <a:solidFill>
                  <a:srgbClr val="BB6688"/>
                </a:solidFill>
                <a:latin typeface="Courier"/>
              </a:rPr>
              <a:t>функции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function f2(u, p, t)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    x, y = u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    g, w = p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    dx = y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    </a:t>
            </a:r>
            <a:r>
              <a:rPr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dirty="0">
                <a:solidFill>
                  <a:srgbClr val="BB6688"/>
                </a:solidFill>
                <a:latin typeface="Courier"/>
              </a:rPr>
              <a:t> = -g .*y - w^2 .*x .+f(t)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    return [dx, </a:t>
            </a:r>
            <a:r>
              <a:rPr dirty="0" err="1">
                <a:solidFill>
                  <a:srgbClr val="BB6688"/>
                </a:solidFill>
                <a:latin typeface="Courier"/>
              </a:rPr>
              <a:t>dy</a:t>
            </a:r>
            <a:r>
              <a:rPr dirty="0">
                <a:solidFill>
                  <a:srgbClr val="BB6688"/>
                </a:solidFill>
                <a:latin typeface="Courier"/>
              </a:rPr>
              <a:t>]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end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# </a:t>
            </a:r>
            <a:r>
              <a:rPr dirty="0" err="1">
                <a:solidFill>
                  <a:srgbClr val="BB6688"/>
                </a:solidFill>
                <a:latin typeface="Courier"/>
              </a:rPr>
              <a:t>Постановка</a:t>
            </a:r>
            <a:r>
              <a:rPr dirty="0">
                <a:solidFill>
                  <a:srgbClr val="BB6688"/>
                </a:solidFill>
                <a:latin typeface="Courier"/>
              </a:rPr>
              <a:t> </a:t>
            </a:r>
            <a:r>
              <a:rPr dirty="0" err="1">
                <a:solidFill>
                  <a:srgbClr val="BB6688"/>
                </a:solidFill>
                <a:latin typeface="Courier"/>
              </a:rPr>
              <a:t>проблемы</a:t>
            </a:r>
            <a:r>
              <a:rPr dirty="0">
                <a:solidFill>
                  <a:srgbClr val="BB6688"/>
                </a:solidFill>
                <a:latin typeface="Courier"/>
              </a:rPr>
              <a:t> и </a:t>
            </a:r>
            <a:r>
              <a:rPr dirty="0" err="1">
                <a:solidFill>
                  <a:srgbClr val="BB6688"/>
                </a:solidFill>
                <a:latin typeface="Courier"/>
              </a:rPr>
              <a:t>ее</a:t>
            </a:r>
            <a:r>
              <a:rPr dirty="0">
                <a:solidFill>
                  <a:srgbClr val="BB6688"/>
                </a:solidFill>
                <a:latin typeface="Courier"/>
              </a:rPr>
              <a:t> </a:t>
            </a:r>
            <a:r>
              <a:rPr dirty="0" err="1">
                <a:solidFill>
                  <a:srgbClr val="BB6688"/>
                </a:solidFill>
                <a:latin typeface="Courier"/>
              </a:rPr>
              <a:t>решение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problem3 = </a:t>
            </a:r>
            <a:r>
              <a:rPr dirty="0" err="1">
                <a:solidFill>
                  <a:srgbClr val="BB6688"/>
                </a:solidFill>
                <a:latin typeface="Courier"/>
              </a:rPr>
              <a:t>ODEProblem</a:t>
            </a:r>
            <a:r>
              <a:rPr dirty="0">
                <a:solidFill>
                  <a:srgbClr val="BB6688"/>
                </a:solidFill>
                <a:latin typeface="Courier"/>
              </a:rPr>
              <a:t>(f2, u0, </a:t>
            </a:r>
            <a:r>
              <a:rPr dirty="0" err="1">
                <a:solidFill>
                  <a:srgbClr val="BB6688"/>
                </a:solidFill>
                <a:latin typeface="Courier"/>
              </a:rPr>
              <a:t>tspan</a:t>
            </a:r>
            <a:r>
              <a:rPr dirty="0">
                <a:solidFill>
                  <a:srgbClr val="BB6688"/>
                </a:solidFill>
                <a:latin typeface="Courier"/>
              </a:rPr>
              <a:t>, p3)</a:t>
            </a:r>
            <a:br>
              <a:rPr dirty="0"/>
            </a:br>
            <a:r>
              <a:rPr dirty="0">
                <a:solidFill>
                  <a:srgbClr val="BB6688"/>
                </a:solidFill>
                <a:latin typeface="Courier"/>
              </a:rPr>
              <a:t>sol3 = solve(problem3, Tsit5(), </a:t>
            </a:r>
            <a:r>
              <a:rPr dirty="0" err="1">
                <a:solidFill>
                  <a:srgbClr val="BB6688"/>
                </a:solidFill>
                <a:latin typeface="Courier"/>
              </a:rPr>
              <a:t>saveat</a:t>
            </a:r>
            <a:r>
              <a:rPr dirty="0">
                <a:solidFill>
                  <a:srgbClr val="BB6688"/>
                </a:solidFill>
                <a:latin typeface="Courier"/>
              </a:rPr>
              <a:t> = 0.05)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Модель колебаний гармонического осциллятора c затуханием и под действием внешней силы</a:t>
            </a:r>
          </a:p>
        </p:txBody>
      </p:sp>
      <p:pic>
        <p:nvPicPr>
          <p:cNvPr id="3" name="Picture 1" descr="image/1.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Колебания гармонического осциллятора с затуханием и под действием внешней силы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Модель колебаний гармонического осциллятора c затуханием и под действием внешней силы</a:t>
            </a:r>
          </a:p>
        </p:txBody>
      </p:sp>
      <p:pic>
        <p:nvPicPr>
          <p:cNvPr id="3" name="Picture 1" descr="image/1.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Фазовый портрет колебаний гармонического осциллятора с затуханием и под действием внешней силы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процессе выполнения данной лабораторной работы я построила математическую модель гармонического осциллятора.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Гармонические колебания [Электронный ресурс]. URL: https://ru.wikipedia.org/wiki/Гармонические_колебания.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787</Words>
  <Application>Microsoft Office PowerPoint</Application>
  <PresentationFormat>Экран (16:9)</PresentationFormat>
  <Paragraphs>44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Courier</vt:lpstr>
      <vt:lpstr>Office Theme</vt:lpstr>
      <vt:lpstr>Лабораторная работа №4</vt:lpstr>
      <vt:lpstr>Информация</vt:lpstr>
      <vt:lpstr>Докладчик</vt:lpstr>
      <vt:lpstr>Цель работы</vt:lpstr>
      <vt:lpstr>Презентация PowerPoint</vt:lpstr>
      <vt:lpstr>Задание</vt:lpstr>
      <vt:lpstr>Презентация PowerPoint</vt:lpstr>
      <vt:lpstr>Выполнение лабораторной работы</vt:lpstr>
      <vt:lpstr>Модель колебаний гармонического осциллятора без затуханий и без действий внешней силы</vt:lpstr>
      <vt:lpstr>Модель колебаний гармонического осциллятора без затуханий и без действий внешней силы</vt:lpstr>
      <vt:lpstr>Модель колебаний гармонического осциллятора без затуханий и без действий внешней силы</vt:lpstr>
      <vt:lpstr>Модель колебаний гармонического осциллятора c затуханием и без действий внешней силы</vt:lpstr>
      <vt:lpstr>Модель колебаний гармонического осциллятора c затуханием и без действий внешней силы</vt:lpstr>
      <vt:lpstr>Модель колебаний гармонического внешней силыосциллятора c затуханием и без действий </vt:lpstr>
      <vt:lpstr>Модель колебаний гармонического осциллятора c затуханием и под действием внешней силы</vt:lpstr>
      <vt:lpstr>Модель колебаний гармонического осциллятора c затуханием и под действием внешней силы</vt:lpstr>
      <vt:lpstr>Модель колебаний гармонического осциллятора c затуханием и под действием внешней силы</vt:lpstr>
      <vt:lpstr>Выводы</vt:lpstr>
      <vt:lpstr>Презентация PowerPoint</vt:lpstr>
      <vt:lpstr>Список литературы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</dc:title>
  <dc:creator>Сингх Ааруши</dc:creator>
  <cp:keywords/>
  <cp:lastModifiedBy>Aarushi Singh</cp:lastModifiedBy>
  <cp:revision>2</cp:revision>
  <dcterms:created xsi:type="dcterms:W3CDTF">2026-04-04T13:28:34Z</dcterms:created>
  <dcterms:modified xsi:type="dcterms:W3CDTF">2026-06-12T10:27:31Z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2026-04-04</vt:lpwstr>
  </property>
  <property fmtid="{D5CDD505-2E9C-101B-9397-08002B2CF9AE}" pid="9" name="date-format">
    <vt:lpwstr>2026-04-04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Модель гармонических колебаний вариант 26</vt:lpwstr>
  </property>
  <property fmtid="{D5CDD505-2E9C-101B-9397-08002B2CF9AE}" pid="16" name="toc-title">
    <vt:lpwstr>Содержание</vt:lpwstr>
  </property>
</Properties>
</file>